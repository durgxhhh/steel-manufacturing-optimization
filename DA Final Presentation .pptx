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94" r:id="rId1"/>
  </p:sldMasterIdLst>
  <p:notesMasterIdLst>
    <p:notesMasterId r:id="rId13"/>
  </p:notesMasterIdLst>
  <p:sldIdLst>
    <p:sldId id="256" r:id="rId2"/>
    <p:sldId id="257" r:id="rId3"/>
    <p:sldId id="258" r:id="rId4"/>
    <p:sldId id="259" r:id="rId5"/>
    <p:sldId id="266" r:id="rId6"/>
    <p:sldId id="268" r:id="rId7"/>
    <p:sldId id="261" r:id="rId8"/>
    <p:sldId id="262" r:id="rId9"/>
    <p:sldId id="263" r:id="rId10"/>
    <p:sldId id="267"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hXQ1N1MafN4fY+Bs9ldogAdiZ6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82" d="100"/>
          <a:sy n="82" d="100"/>
        </p:scale>
        <p:origin x="691" y="72"/>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D3D22A-BE4F-4C87-8656-25C4B9FC2ACD}"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8A7843B-0F60-4A95-B5B8-995530563C3B}">
      <dgm:prSet/>
      <dgm:spPr/>
      <dgm:t>
        <a:bodyPr/>
        <a:lstStyle/>
        <a:p>
          <a:pPr>
            <a:lnSpc>
              <a:spcPct val="100000"/>
            </a:lnSpc>
            <a:defRPr cap="all"/>
          </a:pPr>
          <a:r>
            <a:rPr lang="en-US" i="0"/>
            <a:t>Business Objective</a:t>
          </a:r>
          <a:endParaRPr lang="en-US"/>
        </a:p>
      </dgm:t>
    </dgm:pt>
    <dgm:pt modelId="{82F133CA-7543-4CC6-BDDC-BCDFA122F84D}" type="parTrans" cxnId="{35D29B92-D65B-4E63-A0E6-98EA9847C46E}">
      <dgm:prSet/>
      <dgm:spPr/>
      <dgm:t>
        <a:bodyPr/>
        <a:lstStyle/>
        <a:p>
          <a:endParaRPr lang="en-US"/>
        </a:p>
      </dgm:t>
    </dgm:pt>
    <dgm:pt modelId="{C97EBF50-F4BF-4613-B817-5777C846DA66}" type="sibTrans" cxnId="{35D29B92-D65B-4E63-A0E6-98EA9847C46E}">
      <dgm:prSet/>
      <dgm:spPr/>
      <dgm:t>
        <a:bodyPr/>
        <a:lstStyle/>
        <a:p>
          <a:endParaRPr lang="en-US"/>
        </a:p>
      </dgm:t>
    </dgm:pt>
    <dgm:pt modelId="{6015A240-AE8A-4B3D-B593-15E3EB055105}">
      <dgm:prSet/>
      <dgm:spPr/>
      <dgm:t>
        <a:bodyPr/>
        <a:lstStyle/>
        <a:p>
          <a:pPr>
            <a:lnSpc>
              <a:spcPct val="100000"/>
            </a:lnSpc>
            <a:defRPr cap="all"/>
          </a:pPr>
          <a:r>
            <a:rPr lang="en-US" i="0"/>
            <a:t>Business Constraints</a:t>
          </a:r>
          <a:endParaRPr lang="en-US"/>
        </a:p>
      </dgm:t>
    </dgm:pt>
    <dgm:pt modelId="{BC26EEE1-1ADC-4E2D-AEEC-C037608FA0E6}" type="parTrans" cxnId="{7A442BD6-7465-4B1D-B364-B9D148120207}">
      <dgm:prSet/>
      <dgm:spPr/>
      <dgm:t>
        <a:bodyPr/>
        <a:lstStyle/>
        <a:p>
          <a:endParaRPr lang="en-US"/>
        </a:p>
      </dgm:t>
    </dgm:pt>
    <dgm:pt modelId="{9F96442B-EE5B-45B1-8426-931EAE1D90EB}" type="sibTrans" cxnId="{7A442BD6-7465-4B1D-B364-B9D148120207}">
      <dgm:prSet/>
      <dgm:spPr/>
      <dgm:t>
        <a:bodyPr/>
        <a:lstStyle/>
        <a:p>
          <a:endParaRPr lang="en-US"/>
        </a:p>
      </dgm:t>
    </dgm:pt>
    <dgm:pt modelId="{87FB858D-02E1-4671-895B-76D74E9A9060}">
      <dgm:prSet/>
      <dgm:spPr/>
      <dgm:t>
        <a:bodyPr/>
        <a:lstStyle/>
        <a:p>
          <a:pPr>
            <a:lnSpc>
              <a:spcPct val="100000"/>
            </a:lnSpc>
            <a:defRPr cap="all"/>
          </a:pPr>
          <a:r>
            <a:rPr lang="en-US" i="0"/>
            <a:t>Project Architecture - Data F</a:t>
          </a:r>
          <a:r>
            <a:rPr lang="en-US"/>
            <a:t>low Diagram</a:t>
          </a:r>
        </a:p>
      </dgm:t>
    </dgm:pt>
    <dgm:pt modelId="{0FBA2379-8B7C-48D5-B734-C40A4FB497E5}" type="parTrans" cxnId="{57488AD9-11C1-4E4E-9F7D-814C279E4401}">
      <dgm:prSet/>
      <dgm:spPr/>
      <dgm:t>
        <a:bodyPr/>
        <a:lstStyle/>
        <a:p>
          <a:endParaRPr lang="en-US"/>
        </a:p>
      </dgm:t>
    </dgm:pt>
    <dgm:pt modelId="{70EB9D3F-3741-4FC1-95DE-5742C445E66E}" type="sibTrans" cxnId="{57488AD9-11C1-4E4E-9F7D-814C279E4401}">
      <dgm:prSet/>
      <dgm:spPr/>
      <dgm:t>
        <a:bodyPr/>
        <a:lstStyle/>
        <a:p>
          <a:endParaRPr lang="en-US"/>
        </a:p>
      </dgm:t>
    </dgm:pt>
    <dgm:pt modelId="{A550C95A-F233-4F79-9601-5CFEBCE875B5}">
      <dgm:prSet/>
      <dgm:spPr/>
      <dgm:t>
        <a:bodyPr/>
        <a:lstStyle/>
        <a:p>
          <a:pPr>
            <a:lnSpc>
              <a:spcPct val="100000"/>
            </a:lnSpc>
            <a:defRPr cap="all"/>
          </a:pPr>
          <a:r>
            <a:rPr lang="en-US" i="0"/>
            <a:t>Data Collection</a:t>
          </a:r>
          <a:endParaRPr lang="en-US"/>
        </a:p>
      </dgm:t>
    </dgm:pt>
    <dgm:pt modelId="{E8D4A374-CDB4-41B7-A8FD-C54EF7252F38}" type="parTrans" cxnId="{85ED07FE-FE0C-40FE-9029-FB0980EA6C21}">
      <dgm:prSet/>
      <dgm:spPr/>
      <dgm:t>
        <a:bodyPr/>
        <a:lstStyle/>
        <a:p>
          <a:endParaRPr lang="en-US"/>
        </a:p>
      </dgm:t>
    </dgm:pt>
    <dgm:pt modelId="{1F1A074A-5F2E-48C2-B433-DCC181587CB0}" type="sibTrans" cxnId="{85ED07FE-FE0C-40FE-9029-FB0980EA6C21}">
      <dgm:prSet/>
      <dgm:spPr/>
      <dgm:t>
        <a:bodyPr/>
        <a:lstStyle/>
        <a:p>
          <a:endParaRPr lang="en-US"/>
        </a:p>
      </dgm:t>
    </dgm:pt>
    <dgm:pt modelId="{34F26436-46B9-413F-982C-0328295584C1}">
      <dgm:prSet/>
      <dgm:spPr/>
      <dgm:t>
        <a:bodyPr/>
        <a:lstStyle/>
        <a:p>
          <a:pPr>
            <a:lnSpc>
              <a:spcPct val="100000"/>
            </a:lnSpc>
            <a:defRPr cap="all"/>
          </a:pPr>
          <a:r>
            <a:rPr lang="en-US" i="0"/>
            <a:t>Exploratory Data Analysis</a:t>
          </a:r>
          <a:endParaRPr lang="en-US"/>
        </a:p>
      </dgm:t>
    </dgm:pt>
    <dgm:pt modelId="{38992876-0340-4BF2-B893-8EB2F9F43B09}" type="parTrans" cxnId="{E84FE8AB-08BD-40CF-AAE0-4EDBD0B7B933}">
      <dgm:prSet/>
      <dgm:spPr/>
      <dgm:t>
        <a:bodyPr/>
        <a:lstStyle/>
        <a:p>
          <a:endParaRPr lang="en-US"/>
        </a:p>
      </dgm:t>
    </dgm:pt>
    <dgm:pt modelId="{1A3335B3-B785-4132-9E6D-17706C4FC14E}" type="sibTrans" cxnId="{E84FE8AB-08BD-40CF-AAE0-4EDBD0B7B933}">
      <dgm:prSet/>
      <dgm:spPr/>
      <dgm:t>
        <a:bodyPr/>
        <a:lstStyle/>
        <a:p>
          <a:endParaRPr lang="en-US"/>
        </a:p>
      </dgm:t>
    </dgm:pt>
    <dgm:pt modelId="{12C9EFC4-13D3-43ED-A346-018BF629A93A}">
      <dgm:prSet/>
      <dgm:spPr/>
      <dgm:t>
        <a:bodyPr/>
        <a:lstStyle/>
        <a:p>
          <a:pPr>
            <a:lnSpc>
              <a:spcPct val="100000"/>
            </a:lnSpc>
            <a:defRPr cap="all"/>
          </a:pPr>
          <a:r>
            <a:rPr lang="en-US" i="0"/>
            <a:t>Data Visualization</a:t>
          </a:r>
          <a:endParaRPr lang="en-US"/>
        </a:p>
      </dgm:t>
    </dgm:pt>
    <dgm:pt modelId="{F62B38D7-6085-4C88-BC65-ACCE4826118F}" type="parTrans" cxnId="{C6CB82AF-885D-4608-B074-E8748955798B}">
      <dgm:prSet/>
      <dgm:spPr/>
      <dgm:t>
        <a:bodyPr/>
        <a:lstStyle/>
        <a:p>
          <a:endParaRPr lang="en-US"/>
        </a:p>
      </dgm:t>
    </dgm:pt>
    <dgm:pt modelId="{9C51746B-EA2F-4DAE-965B-12931F2AEF65}" type="sibTrans" cxnId="{C6CB82AF-885D-4608-B074-E8748955798B}">
      <dgm:prSet/>
      <dgm:spPr/>
      <dgm:t>
        <a:bodyPr/>
        <a:lstStyle/>
        <a:p>
          <a:endParaRPr lang="en-US"/>
        </a:p>
      </dgm:t>
    </dgm:pt>
    <dgm:pt modelId="{BF053EA9-EC9A-4B69-A879-E51BF11CB833}" type="pres">
      <dgm:prSet presAssocID="{23D3D22A-BE4F-4C87-8656-25C4B9FC2ACD}" presName="root" presStyleCnt="0">
        <dgm:presLayoutVars>
          <dgm:dir/>
          <dgm:resizeHandles val="exact"/>
        </dgm:presLayoutVars>
      </dgm:prSet>
      <dgm:spPr/>
    </dgm:pt>
    <dgm:pt modelId="{80458861-9C26-4723-BDE9-02AE2EFB3F51}" type="pres">
      <dgm:prSet presAssocID="{38A7843B-0F60-4A95-B5B8-995530563C3B}" presName="compNode" presStyleCnt="0"/>
      <dgm:spPr/>
    </dgm:pt>
    <dgm:pt modelId="{2E2C83A6-7948-46B6-B75F-F9688E8EEAD9}" type="pres">
      <dgm:prSet presAssocID="{38A7843B-0F60-4A95-B5B8-995530563C3B}" presName="iconBgRect" presStyleLbl="bgShp" presStyleIdx="0" presStyleCnt="6"/>
      <dgm:spPr/>
    </dgm:pt>
    <dgm:pt modelId="{4330AB72-CC53-4C4E-B513-328C120E0569}" type="pres">
      <dgm:prSet presAssocID="{38A7843B-0F60-4A95-B5B8-995530563C3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26860043-6EDA-449C-8C6A-87977C27FE5C}" type="pres">
      <dgm:prSet presAssocID="{38A7843B-0F60-4A95-B5B8-995530563C3B}" presName="spaceRect" presStyleCnt="0"/>
      <dgm:spPr/>
    </dgm:pt>
    <dgm:pt modelId="{736960E5-040E-47C3-B9A5-8643A6444132}" type="pres">
      <dgm:prSet presAssocID="{38A7843B-0F60-4A95-B5B8-995530563C3B}" presName="textRect" presStyleLbl="revTx" presStyleIdx="0" presStyleCnt="6">
        <dgm:presLayoutVars>
          <dgm:chMax val="1"/>
          <dgm:chPref val="1"/>
        </dgm:presLayoutVars>
      </dgm:prSet>
      <dgm:spPr/>
    </dgm:pt>
    <dgm:pt modelId="{4E6F093A-0EA8-46B6-BDA4-DF12FEB80D8A}" type="pres">
      <dgm:prSet presAssocID="{C97EBF50-F4BF-4613-B817-5777C846DA66}" presName="sibTrans" presStyleCnt="0"/>
      <dgm:spPr/>
    </dgm:pt>
    <dgm:pt modelId="{19C59A53-9133-4A5F-8D8D-BC93A70C4028}" type="pres">
      <dgm:prSet presAssocID="{6015A240-AE8A-4B3D-B593-15E3EB055105}" presName="compNode" presStyleCnt="0"/>
      <dgm:spPr/>
    </dgm:pt>
    <dgm:pt modelId="{E86CC030-A2AE-4758-9355-F9269EF07501}" type="pres">
      <dgm:prSet presAssocID="{6015A240-AE8A-4B3D-B593-15E3EB055105}" presName="iconBgRect" presStyleLbl="bgShp" presStyleIdx="1" presStyleCnt="6"/>
      <dgm:spPr/>
    </dgm:pt>
    <dgm:pt modelId="{4C53779E-C498-4A5A-B6C2-C5090B135243}" type="pres">
      <dgm:prSet presAssocID="{6015A240-AE8A-4B3D-B593-15E3EB05510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3EDD6F36-8E40-4D76-BDA6-7EB1903E6069}" type="pres">
      <dgm:prSet presAssocID="{6015A240-AE8A-4B3D-B593-15E3EB055105}" presName="spaceRect" presStyleCnt="0"/>
      <dgm:spPr/>
    </dgm:pt>
    <dgm:pt modelId="{3CFD83AD-3FB1-41B6-9AF1-7D8E991CB541}" type="pres">
      <dgm:prSet presAssocID="{6015A240-AE8A-4B3D-B593-15E3EB055105}" presName="textRect" presStyleLbl="revTx" presStyleIdx="1" presStyleCnt="6">
        <dgm:presLayoutVars>
          <dgm:chMax val="1"/>
          <dgm:chPref val="1"/>
        </dgm:presLayoutVars>
      </dgm:prSet>
      <dgm:spPr/>
    </dgm:pt>
    <dgm:pt modelId="{E38CF903-B055-4D0D-9E03-ACF80A352E87}" type="pres">
      <dgm:prSet presAssocID="{9F96442B-EE5B-45B1-8426-931EAE1D90EB}" presName="sibTrans" presStyleCnt="0"/>
      <dgm:spPr/>
    </dgm:pt>
    <dgm:pt modelId="{58E770A3-8E50-450F-BA8E-3D93AA2EA822}" type="pres">
      <dgm:prSet presAssocID="{87FB858D-02E1-4671-895B-76D74E9A9060}" presName="compNode" presStyleCnt="0"/>
      <dgm:spPr/>
    </dgm:pt>
    <dgm:pt modelId="{0FE784A4-E4A1-49D0-BB06-BDD93162C91B}" type="pres">
      <dgm:prSet presAssocID="{87FB858D-02E1-4671-895B-76D74E9A9060}" presName="iconBgRect" presStyleLbl="bgShp" presStyleIdx="2" presStyleCnt="6"/>
      <dgm:spPr/>
    </dgm:pt>
    <dgm:pt modelId="{D98FA693-993D-4740-95A0-AFBCE303B357}" type="pres">
      <dgm:prSet presAssocID="{87FB858D-02E1-4671-895B-76D74E9A906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749C7915-E150-468B-BB93-1CB46352F9F7}" type="pres">
      <dgm:prSet presAssocID="{87FB858D-02E1-4671-895B-76D74E9A9060}" presName="spaceRect" presStyleCnt="0"/>
      <dgm:spPr/>
    </dgm:pt>
    <dgm:pt modelId="{82446138-CE32-4D6C-872F-BD8866E1F206}" type="pres">
      <dgm:prSet presAssocID="{87FB858D-02E1-4671-895B-76D74E9A9060}" presName="textRect" presStyleLbl="revTx" presStyleIdx="2" presStyleCnt="6">
        <dgm:presLayoutVars>
          <dgm:chMax val="1"/>
          <dgm:chPref val="1"/>
        </dgm:presLayoutVars>
      </dgm:prSet>
      <dgm:spPr/>
    </dgm:pt>
    <dgm:pt modelId="{878748E3-D126-4D10-B00D-2562464DF44A}" type="pres">
      <dgm:prSet presAssocID="{70EB9D3F-3741-4FC1-95DE-5742C445E66E}" presName="sibTrans" presStyleCnt="0"/>
      <dgm:spPr/>
    </dgm:pt>
    <dgm:pt modelId="{5A9F01A5-AD78-4D7D-A0FB-96CE2F0E86A7}" type="pres">
      <dgm:prSet presAssocID="{A550C95A-F233-4F79-9601-5CFEBCE875B5}" presName="compNode" presStyleCnt="0"/>
      <dgm:spPr/>
    </dgm:pt>
    <dgm:pt modelId="{F4083A00-1F38-4804-BDED-DA9B04A51E18}" type="pres">
      <dgm:prSet presAssocID="{A550C95A-F233-4F79-9601-5CFEBCE875B5}" presName="iconBgRect" presStyleLbl="bgShp" presStyleIdx="3" presStyleCnt="6"/>
      <dgm:spPr/>
    </dgm:pt>
    <dgm:pt modelId="{C50010E5-FA05-42D6-91DF-37C228C8E6EC}" type="pres">
      <dgm:prSet presAssocID="{A550C95A-F233-4F79-9601-5CFEBCE875B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EA0C85F9-BA74-411B-AC70-137053920A8E}" type="pres">
      <dgm:prSet presAssocID="{A550C95A-F233-4F79-9601-5CFEBCE875B5}" presName="spaceRect" presStyleCnt="0"/>
      <dgm:spPr/>
    </dgm:pt>
    <dgm:pt modelId="{6AC36C13-01FA-4A62-8340-9054F388DEA1}" type="pres">
      <dgm:prSet presAssocID="{A550C95A-F233-4F79-9601-5CFEBCE875B5}" presName="textRect" presStyleLbl="revTx" presStyleIdx="3" presStyleCnt="6">
        <dgm:presLayoutVars>
          <dgm:chMax val="1"/>
          <dgm:chPref val="1"/>
        </dgm:presLayoutVars>
      </dgm:prSet>
      <dgm:spPr/>
    </dgm:pt>
    <dgm:pt modelId="{C3479D2F-D6BD-49C0-B2EB-55B02178259B}" type="pres">
      <dgm:prSet presAssocID="{1F1A074A-5F2E-48C2-B433-DCC181587CB0}" presName="sibTrans" presStyleCnt="0"/>
      <dgm:spPr/>
    </dgm:pt>
    <dgm:pt modelId="{27336875-51B2-4AB1-9C64-FD1A923CCC2B}" type="pres">
      <dgm:prSet presAssocID="{34F26436-46B9-413F-982C-0328295584C1}" presName="compNode" presStyleCnt="0"/>
      <dgm:spPr/>
    </dgm:pt>
    <dgm:pt modelId="{7577E043-2445-46A3-B69D-6FE6A3A58BD3}" type="pres">
      <dgm:prSet presAssocID="{34F26436-46B9-413F-982C-0328295584C1}" presName="iconBgRect" presStyleLbl="bgShp" presStyleIdx="4" presStyleCnt="6"/>
      <dgm:spPr/>
    </dgm:pt>
    <dgm:pt modelId="{901FA234-FA9E-4996-A430-097A3D0DF70A}" type="pres">
      <dgm:prSet presAssocID="{34F26436-46B9-413F-982C-0328295584C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CE1CA13E-5C05-41F2-9185-BC4BB43D006C}" type="pres">
      <dgm:prSet presAssocID="{34F26436-46B9-413F-982C-0328295584C1}" presName="spaceRect" presStyleCnt="0"/>
      <dgm:spPr/>
    </dgm:pt>
    <dgm:pt modelId="{60154895-BA4B-4726-8C47-CB925FF40A23}" type="pres">
      <dgm:prSet presAssocID="{34F26436-46B9-413F-982C-0328295584C1}" presName="textRect" presStyleLbl="revTx" presStyleIdx="4" presStyleCnt="6">
        <dgm:presLayoutVars>
          <dgm:chMax val="1"/>
          <dgm:chPref val="1"/>
        </dgm:presLayoutVars>
      </dgm:prSet>
      <dgm:spPr/>
    </dgm:pt>
    <dgm:pt modelId="{5576F845-8B4F-4320-B250-781BDC131DB5}" type="pres">
      <dgm:prSet presAssocID="{1A3335B3-B785-4132-9E6D-17706C4FC14E}" presName="sibTrans" presStyleCnt="0"/>
      <dgm:spPr/>
    </dgm:pt>
    <dgm:pt modelId="{38F0EAB4-8386-4CB0-B0D5-1236F7291113}" type="pres">
      <dgm:prSet presAssocID="{12C9EFC4-13D3-43ED-A346-018BF629A93A}" presName="compNode" presStyleCnt="0"/>
      <dgm:spPr/>
    </dgm:pt>
    <dgm:pt modelId="{EC10E482-7FAB-4A54-A9D9-C3BDEE50A43D}" type="pres">
      <dgm:prSet presAssocID="{12C9EFC4-13D3-43ED-A346-018BF629A93A}" presName="iconBgRect" presStyleLbl="bgShp" presStyleIdx="5" presStyleCnt="6"/>
      <dgm:spPr/>
    </dgm:pt>
    <dgm:pt modelId="{34E739FE-70C6-4FE1-A9D5-78E05DAF29B3}" type="pres">
      <dgm:prSet presAssocID="{12C9EFC4-13D3-43ED-A346-018BF629A93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pward trend"/>
        </a:ext>
      </dgm:extLst>
    </dgm:pt>
    <dgm:pt modelId="{D849C4EF-9520-4F43-BA3F-424B0AE69326}" type="pres">
      <dgm:prSet presAssocID="{12C9EFC4-13D3-43ED-A346-018BF629A93A}" presName="spaceRect" presStyleCnt="0"/>
      <dgm:spPr/>
    </dgm:pt>
    <dgm:pt modelId="{CBE9B2FD-DABD-44DC-B971-84AC1A7BF247}" type="pres">
      <dgm:prSet presAssocID="{12C9EFC4-13D3-43ED-A346-018BF629A93A}" presName="textRect" presStyleLbl="revTx" presStyleIdx="5" presStyleCnt="6">
        <dgm:presLayoutVars>
          <dgm:chMax val="1"/>
          <dgm:chPref val="1"/>
        </dgm:presLayoutVars>
      </dgm:prSet>
      <dgm:spPr/>
    </dgm:pt>
  </dgm:ptLst>
  <dgm:cxnLst>
    <dgm:cxn modelId="{E8FA970C-A2A6-493B-AA45-D632E84D6F94}" type="presOf" srcId="{87FB858D-02E1-4671-895B-76D74E9A9060}" destId="{82446138-CE32-4D6C-872F-BD8866E1F206}" srcOrd="0" destOrd="0" presId="urn:microsoft.com/office/officeart/2018/5/layout/IconCircleLabelList"/>
    <dgm:cxn modelId="{45835766-707E-482B-9D4E-F84123D0E70B}" type="presOf" srcId="{23D3D22A-BE4F-4C87-8656-25C4B9FC2ACD}" destId="{BF053EA9-EC9A-4B69-A879-E51BF11CB833}" srcOrd="0" destOrd="0" presId="urn:microsoft.com/office/officeart/2018/5/layout/IconCircleLabelList"/>
    <dgm:cxn modelId="{63219072-E21A-4254-8E0A-6E91105EC865}" type="presOf" srcId="{A550C95A-F233-4F79-9601-5CFEBCE875B5}" destId="{6AC36C13-01FA-4A62-8340-9054F388DEA1}" srcOrd="0" destOrd="0" presId="urn:microsoft.com/office/officeart/2018/5/layout/IconCircleLabelList"/>
    <dgm:cxn modelId="{6D440A7E-ABD1-4746-92DA-0E956DA694E8}" type="presOf" srcId="{34F26436-46B9-413F-982C-0328295584C1}" destId="{60154895-BA4B-4726-8C47-CB925FF40A23}" srcOrd="0" destOrd="0" presId="urn:microsoft.com/office/officeart/2018/5/layout/IconCircleLabelList"/>
    <dgm:cxn modelId="{35D29B92-D65B-4E63-A0E6-98EA9847C46E}" srcId="{23D3D22A-BE4F-4C87-8656-25C4B9FC2ACD}" destId="{38A7843B-0F60-4A95-B5B8-995530563C3B}" srcOrd="0" destOrd="0" parTransId="{82F133CA-7543-4CC6-BDDC-BCDFA122F84D}" sibTransId="{C97EBF50-F4BF-4613-B817-5777C846DA66}"/>
    <dgm:cxn modelId="{E84FE8AB-08BD-40CF-AAE0-4EDBD0B7B933}" srcId="{23D3D22A-BE4F-4C87-8656-25C4B9FC2ACD}" destId="{34F26436-46B9-413F-982C-0328295584C1}" srcOrd="4" destOrd="0" parTransId="{38992876-0340-4BF2-B893-8EB2F9F43B09}" sibTransId="{1A3335B3-B785-4132-9E6D-17706C4FC14E}"/>
    <dgm:cxn modelId="{C6CB82AF-885D-4608-B074-E8748955798B}" srcId="{23D3D22A-BE4F-4C87-8656-25C4B9FC2ACD}" destId="{12C9EFC4-13D3-43ED-A346-018BF629A93A}" srcOrd="5" destOrd="0" parTransId="{F62B38D7-6085-4C88-BC65-ACCE4826118F}" sibTransId="{9C51746B-EA2F-4DAE-965B-12931F2AEF65}"/>
    <dgm:cxn modelId="{2AEFDAB8-55DE-4028-B44A-1A2DA9714825}" type="presOf" srcId="{12C9EFC4-13D3-43ED-A346-018BF629A93A}" destId="{CBE9B2FD-DABD-44DC-B971-84AC1A7BF247}" srcOrd="0" destOrd="0" presId="urn:microsoft.com/office/officeart/2018/5/layout/IconCircleLabelList"/>
    <dgm:cxn modelId="{20DCA9C0-A093-4F42-93CA-A4AE79A0C558}" type="presOf" srcId="{6015A240-AE8A-4B3D-B593-15E3EB055105}" destId="{3CFD83AD-3FB1-41B6-9AF1-7D8E991CB541}" srcOrd="0" destOrd="0" presId="urn:microsoft.com/office/officeart/2018/5/layout/IconCircleLabelList"/>
    <dgm:cxn modelId="{7A442BD6-7465-4B1D-B364-B9D148120207}" srcId="{23D3D22A-BE4F-4C87-8656-25C4B9FC2ACD}" destId="{6015A240-AE8A-4B3D-B593-15E3EB055105}" srcOrd="1" destOrd="0" parTransId="{BC26EEE1-1ADC-4E2D-AEEC-C037608FA0E6}" sibTransId="{9F96442B-EE5B-45B1-8426-931EAE1D90EB}"/>
    <dgm:cxn modelId="{57488AD9-11C1-4E4E-9F7D-814C279E4401}" srcId="{23D3D22A-BE4F-4C87-8656-25C4B9FC2ACD}" destId="{87FB858D-02E1-4671-895B-76D74E9A9060}" srcOrd="2" destOrd="0" parTransId="{0FBA2379-8B7C-48D5-B734-C40A4FB497E5}" sibTransId="{70EB9D3F-3741-4FC1-95DE-5742C445E66E}"/>
    <dgm:cxn modelId="{9B8E2EE3-1364-4A68-93D0-C9F4D5B5D7CD}" type="presOf" srcId="{38A7843B-0F60-4A95-B5B8-995530563C3B}" destId="{736960E5-040E-47C3-B9A5-8643A6444132}" srcOrd="0" destOrd="0" presId="urn:microsoft.com/office/officeart/2018/5/layout/IconCircleLabelList"/>
    <dgm:cxn modelId="{85ED07FE-FE0C-40FE-9029-FB0980EA6C21}" srcId="{23D3D22A-BE4F-4C87-8656-25C4B9FC2ACD}" destId="{A550C95A-F233-4F79-9601-5CFEBCE875B5}" srcOrd="3" destOrd="0" parTransId="{E8D4A374-CDB4-41B7-A8FD-C54EF7252F38}" sibTransId="{1F1A074A-5F2E-48C2-B433-DCC181587CB0}"/>
    <dgm:cxn modelId="{46BC39EE-1327-4A2E-B675-56440A0E5A13}" type="presParOf" srcId="{BF053EA9-EC9A-4B69-A879-E51BF11CB833}" destId="{80458861-9C26-4723-BDE9-02AE2EFB3F51}" srcOrd="0" destOrd="0" presId="urn:microsoft.com/office/officeart/2018/5/layout/IconCircleLabelList"/>
    <dgm:cxn modelId="{199B6957-A848-4718-9D47-E8D518DFFCFF}" type="presParOf" srcId="{80458861-9C26-4723-BDE9-02AE2EFB3F51}" destId="{2E2C83A6-7948-46B6-B75F-F9688E8EEAD9}" srcOrd="0" destOrd="0" presId="urn:microsoft.com/office/officeart/2018/5/layout/IconCircleLabelList"/>
    <dgm:cxn modelId="{44BEF434-5D02-4631-B645-850F3AC55AA9}" type="presParOf" srcId="{80458861-9C26-4723-BDE9-02AE2EFB3F51}" destId="{4330AB72-CC53-4C4E-B513-328C120E0569}" srcOrd="1" destOrd="0" presId="urn:microsoft.com/office/officeart/2018/5/layout/IconCircleLabelList"/>
    <dgm:cxn modelId="{A429EE59-34EE-48B6-A80F-FACC6092FEEF}" type="presParOf" srcId="{80458861-9C26-4723-BDE9-02AE2EFB3F51}" destId="{26860043-6EDA-449C-8C6A-87977C27FE5C}" srcOrd="2" destOrd="0" presId="urn:microsoft.com/office/officeart/2018/5/layout/IconCircleLabelList"/>
    <dgm:cxn modelId="{B7C949EE-4566-4D95-B484-91D911038B1B}" type="presParOf" srcId="{80458861-9C26-4723-BDE9-02AE2EFB3F51}" destId="{736960E5-040E-47C3-B9A5-8643A6444132}" srcOrd="3" destOrd="0" presId="urn:microsoft.com/office/officeart/2018/5/layout/IconCircleLabelList"/>
    <dgm:cxn modelId="{A8195208-AE44-4F11-B68F-17F69631AA56}" type="presParOf" srcId="{BF053EA9-EC9A-4B69-A879-E51BF11CB833}" destId="{4E6F093A-0EA8-46B6-BDA4-DF12FEB80D8A}" srcOrd="1" destOrd="0" presId="urn:microsoft.com/office/officeart/2018/5/layout/IconCircleLabelList"/>
    <dgm:cxn modelId="{EE106BBC-99A6-4C47-99EE-F15A9E591627}" type="presParOf" srcId="{BF053EA9-EC9A-4B69-A879-E51BF11CB833}" destId="{19C59A53-9133-4A5F-8D8D-BC93A70C4028}" srcOrd="2" destOrd="0" presId="urn:microsoft.com/office/officeart/2018/5/layout/IconCircleLabelList"/>
    <dgm:cxn modelId="{B078C01D-7471-4B0D-B300-6A839C499DA6}" type="presParOf" srcId="{19C59A53-9133-4A5F-8D8D-BC93A70C4028}" destId="{E86CC030-A2AE-4758-9355-F9269EF07501}" srcOrd="0" destOrd="0" presId="urn:microsoft.com/office/officeart/2018/5/layout/IconCircleLabelList"/>
    <dgm:cxn modelId="{D44917A8-ED9C-4592-BEA9-2A2C8BB45052}" type="presParOf" srcId="{19C59A53-9133-4A5F-8D8D-BC93A70C4028}" destId="{4C53779E-C498-4A5A-B6C2-C5090B135243}" srcOrd="1" destOrd="0" presId="urn:microsoft.com/office/officeart/2018/5/layout/IconCircleLabelList"/>
    <dgm:cxn modelId="{A61A7C95-033C-4D0B-885F-C118A72EC379}" type="presParOf" srcId="{19C59A53-9133-4A5F-8D8D-BC93A70C4028}" destId="{3EDD6F36-8E40-4D76-BDA6-7EB1903E6069}" srcOrd="2" destOrd="0" presId="urn:microsoft.com/office/officeart/2018/5/layout/IconCircleLabelList"/>
    <dgm:cxn modelId="{001B9C31-85E2-403C-B021-250F94060FF7}" type="presParOf" srcId="{19C59A53-9133-4A5F-8D8D-BC93A70C4028}" destId="{3CFD83AD-3FB1-41B6-9AF1-7D8E991CB541}" srcOrd="3" destOrd="0" presId="urn:microsoft.com/office/officeart/2018/5/layout/IconCircleLabelList"/>
    <dgm:cxn modelId="{F23D8A6B-472C-4308-9672-77A484193347}" type="presParOf" srcId="{BF053EA9-EC9A-4B69-A879-E51BF11CB833}" destId="{E38CF903-B055-4D0D-9E03-ACF80A352E87}" srcOrd="3" destOrd="0" presId="urn:microsoft.com/office/officeart/2018/5/layout/IconCircleLabelList"/>
    <dgm:cxn modelId="{A06D4A27-40F9-4467-8C63-AC9E50EB7EE0}" type="presParOf" srcId="{BF053EA9-EC9A-4B69-A879-E51BF11CB833}" destId="{58E770A3-8E50-450F-BA8E-3D93AA2EA822}" srcOrd="4" destOrd="0" presId="urn:microsoft.com/office/officeart/2018/5/layout/IconCircleLabelList"/>
    <dgm:cxn modelId="{F7E0A20A-13F9-4467-AA88-6F9BD859BD46}" type="presParOf" srcId="{58E770A3-8E50-450F-BA8E-3D93AA2EA822}" destId="{0FE784A4-E4A1-49D0-BB06-BDD93162C91B}" srcOrd="0" destOrd="0" presId="urn:microsoft.com/office/officeart/2018/5/layout/IconCircleLabelList"/>
    <dgm:cxn modelId="{D1D8D1EC-6F42-4070-A5E8-F82423DD1293}" type="presParOf" srcId="{58E770A3-8E50-450F-BA8E-3D93AA2EA822}" destId="{D98FA693-993D-4740-95A0-AFBCE303B357}" srcOrd="1" destOrd="0" presId="urn:microsoft.com/office/officeart/2018/5/layout/IconCircleLabelList"/>
    <dgm:cxn modelId="{37707CE0-D23C-49E2-9CF6-5004AE0D8354}" type="presParOf" srcId="{58E770A3-8E50-450F-BA8E-3D93AA2EA822}" destId="{749C7915-E150-468B-BB93-1CB46352F9F7}" srcOrd="2" destOrd="0" presId="urn:microsoft.com/office/officeart/2018/5/layout/IconCircleLabelList"/>
    <dgm:cxn modelId="{D602D86C-B1E8-4F32-9033-E1068C3089D6}" type="presParOf" srcId="{58E770A3-8E50-450F-BA8E-3D93AA2EA822}" destId="{82446138-CE32-4D6C-872F-BD8866E1F206}" srcOrd="3" destOrd="0" presId="urn:microsoft.com/office/officeart/2018/5/layout/IconCircleLabelList"/>
    <dgm:cxn modelId="{BCFB00DD-5AA3-4E92-B028-87362F8470F3}" type="presParOf" srcId="{BF053EA9-EC9A-4B69-A879-E51BF11CB833}" destId="{878748E3-D126-4D10-B00D-2562464DF44A}" srcOrd="5" destOrd="0" presId="urn:microsoft.com/office/officeart/2018/5/layout/IconCircleLabelList"/>
    <dgm:cxn modelId="{BD074770-C7E2-435E-B6FB-2DA0C050612F}" type="presParOf" srcId="{BF053EA9-EC9A-4B69-A879-E51BF11CB833}" destId="{5A9F01A5-AD78-4D7D-A0FB-96CE2F0E86A7}" srcOrd="6" destOrd="0" presId="urn:microsoft.com/office/officeart/2018/5/layout/IconCircleLabelList"/>
    <dgm:cxn modelId="{F70825DD-E38E-4D48-9C31-28245847708C}" type="presParOf" srcId="{5A9F01A5-AD78-4D7D-A0FB-96CE2F0E86A7}" destId="{F4083A00-1F38-4804-BDED-DA9B04A51E18}" srcOrd="0" destOrd="0" presId="urn:microsoft.com/office/officeart/2018/5/layout/IconCircleLabelList"/>
    <dgm:cxn modelId="{7E63563B-A737-4413-A639-1A0D9ACADA8D}" type="presParOf" srcId="{5A9F01A5-AD78-4D7D-A0FB-96CE2F0E86A7}" destId="{C50010E5-FA05-42D6-91DF-37C228C8E6EC}" srcOrd="1" destOrd="0" presId="urn:microsoft.com/office/officeart/2018/5/layout/IconCircleLabelList"/>
    <dgm:cxn modelId="{D3893880-D4B8-4D6C-8392-EB1859AC519C}" type="presParOf" srcId="{5A9F01A5-AD78-4D7D-A0FB-96CE2F0E86A7}" destId="{EA0C85F9-BA74-411B-AC70-137053920A8E}" srcOrd="2" destOrd="0" presId="urn:microsoft.com/office/officeart/2018/5/layout/IconCircleLabelList"/>
    <dgm:cxn modelId="{CC3B9538-407E-41DD-A011-E57F095AE54D}" type="presParOf" srcId="{5A9F01A5-AD78-4D7D-A0FB-96CE2F0E86A7}" destId="{6AC36C13-01FA-4A62-8340-9054F388DEA1}" srcOrd="3" destOrd="0" presId="urn:microsoft.com/office/officeart/2018/5/layout/IconCircleLabelList"/>
    <dgm:cxn modelId="{A9F83867-136A-41B1-BE6E-0577BA12F2EB}" type="presParOf" srcId="{BF053EA9-EC9A-4B69-A879-E51BF11CB833}" destId="{C3479D2F-D6BD-49C0-B2EB-55B02178259B}" srcOrd="7" destOrd="0" presId="urn:microsoft.com/office/officeart/2018/5/layout/IconCircleLabelList"/>
    <dgm:cxn modelId="{AE93D39F-3E38-464B-BB70-6C5F5A989793}" type="presParOf" srcId="{BF053EA9-EC9A-4B69-A879-E51BF11CB833}" destId="{27336875-51B2-4AB1-9C64-FD1A923CCC2B}" srcOrd="8" destOrd="0" presId="urn:microsoft.com/office/officeart/2018/5/layout/IconCircleLabelList"/>
    <dgm:cxn modelId="{1E741FDC-AF64-4565-9320-94FC8172E19E}" type="presParOf" srcId="{27336875-51B2-4AB1-9C64-FD1A923CCC2B}" destId="{7577E043-2445-46A3-B69D-6FE6A3A58BD3}" srcOrd="0" destOrd="0" presId="urn:microsoft.com/office/officeart/2018/5/layout/IconCircleLabelList"/>
    <dgm:cxn modelId="{3135DE10-2C7F-45AB-927C-E0F195D8A156}" type="presParOf" srcId="{27336875-51B2-4AB1-9C64-FD1A923CCC2B}" destId="{901FA234-FA9E-4996-A430-097A3D0DF70A}" srcOrd="1" destOrd="0" presId="urn:microsoft.com/office/officeart/2018/5/layout/IconCircleLabelList"/>
    <dgm:cxn modelId="{1FC6784A-B613-441A-A183-48CD2643C905}" type="presParOf" srcId="{27336875-51B2-4AB1-9C64-FD1A923CCC2B}" destId="{CE1CA13E-5C05-41F2-9185-BC4BB43D006C}" srcOrd="2" destOrd="0" presId="urn:microsoft.com/office/officeart/2018/5/layout/IconCircleLabelList"/>
    <dgm:cxn modelId="{FC5FCDC2-45D4-48EE-A623-1DB5C4FC3FAC}" type="presParOf" srcId="{27336875-51B2-4AB1-9C64-FD1A923CCC2B}" destId="{60154895-BA4B-4726-8C47-CB925FF40A23}" srcOrd="3" destOrd="0" presId="urn:microsoft.com/office/officeart/2018/5/layout/IconCircleLabelList"/>
    <dgm:cxn modelId="{1F76EA48-748F-42E0-AFB3-3302F3343B29}" type="presParOf" srcId="{BF053EA9-EC9A-4B69-A879-E51BF11CB833}" destId="{5576F845-8B4F-4320-B250-781BDC131DB5}" srcOrd="9" destOrd="0" presId="urn:microsoft.com/office/officeart/2018/5/layout/IconCircleLabelList"/>
    <dgm:cxn modelId="{55CE4523-068F-4321-8734-6159997BB56F}" type="presParOf" srcId="{BF053EA9-EC9A-4B69-A879-E51BF11CB833}" destId="{38F0EAB4-8386-4CB0-B0D5-1236F7291113}" srcOrd="10" destOrd="0" presId="urn:microsoft.com/office/officeart/2018/5/layout/IconCircleLabelList"/>
    <dgm:cxn modelId="{1C030DBA-E678-4B10-B976-284CF1B2F0AD}" type="presParOf" srcId="{38F0EAB4-8386-4CB0-B0D5-1236F7291113}" destId="{EC10E482-7FAB-4A54-A9D9-C3BDEE50A43D}" srcOrd="0" destOrd="0" presId="urn:microsoft.com/office/officeart/2018/5/layout/IconCircleLabelList"/>
    <dgm:cxn modelId="{AB192711-4C0B-44CE-B3FC-D281780F71E0}" type="presParOf" srcId="{38F0EAB4-8386-4CB0-B0D5-1236F7291113}" destId="{34E739FE-70C6-4FE1-A9D5-78E05DAF29B3}" srcOrd="1" destOrd="0" presId="urn:microsoft.com/office/officeart/2018/5/layout/IconCircleLabelList"/>
    <dgm:cxn modelId="{B456BE45-EC7A-4714-8D38-38183938F197}" type="presParOf" srcId="{38F0EAB4-8386-4CB0-B0D5-1236F7291113}" destId="{D849C4EF-9520-4F43-BA3F-424B0AE69326}" srcOrd="2" destOrd="0" presId="urn:microsoft.com/office/officeart/2018/5/layout/IconCircleLabelList"/>
    <dgm:cxn modelId="{B3BCD594-DC8E-4477-90E6-47B1B8BEDD84}" type="presParOf" srcId="{38F0EAB4-8386-4CB0-B0D5-1236F7291113}" destId="{CBE9B2FD-DABD-44DC-B971-84AC1A7BF247}"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C83A6-7948-46B6-B75F-F9688E8EEAD9}">
      <dsp:nvSpPr>
        <dsp:cNvPr id="0" name=""/>
        <dsp:cNvSpPr/>
      </dsp:nvSpPr>
      <dsp:spPr>
        <a:xfrm>
          <a:off x="311379" y="891264"/>
          <a:ext cx="969328" cy="96932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30AB72-CC53-4C4E-B513-328C120E0569}">
      <dsp:nvSpPr>
        <dsp:cNvPr id="0" name=""/>
        <dsp:cNvSpPr/>
      </dsp:nvSpPr>
      <dsp:spPr>
        <a:xfrm>
          <a:off x="517957" y="1097843"/>
          <a:ext cx="556171" cy="556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6960E5-040E-47C3-B9A5-8643A6444132}">
      <dsp:nvSpPr>
        <dsp:cNvPr id="0" name=""/>
        <dsp:cNvSpPr/>
      </dsp:nvSpPr>
      <dsp:spPr>
        <a:xfrm>
          <a:off x="1512" y="21625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i="0" kern="1200"/>
            <a:t>Business Objective</a:t>
          </a:r>
          <a:endParaRPr lang="en-US" sz="1300" kern="1200"/>
        </a:p>
      </dsp:txBody>
      <dsp:txXfrm>
        <a:off x="1512" y="2162515"/>
        <a:ext cx="1589062" cy="635625"/>
      </dsp:txXfrm>
    </dsp:sp>
    <dsp:sp modelId="{E86CC030-A2AE-4758-9355-F9269EF07501}">
      <dsp:nvSpPr>
        <dsp:cNvPr id="0" name=""/>
        <dsp:cNvSpPr/>
      </dsp:nvSpPr>
      <dsp:spPr>
        <a:xfrm>
          <a:off x="2178527" y="891264"/>
          <a:ext cx="969328" cy="96932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53779E-C498-4A5A-B6C2-C5090B135243}">
      <dsp:nvSpPr>
        <dsp:cNvPr id="0" name=""/>
        <dsp:cNvSpPr/>
      </dsp:nvSpPr>
      <dsp:spPr>
        <a:xfrm>
          <a:off x="2385105" y="1097843"/>
          <a:ext cx="556171" cy="556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FD83AD-3FB1-41B6-9AF1-7D8E991CB541}">
      <dsp:nvSpPr>
        <dsp:cNvPr id="0" name=""/>
        <dsp:cNvSpPr/>
      </dsp:nvSpPr>
      <dsp:spPr>
        <a:xfrm>
          <a:off x="1868660" y="21625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i="0" kern="1200"/>
            <a:t>Business Constraints</a:t>
          </a:r>
          <a:endParaRPr lang="en-US" sz="1300" kern="1200"/>
        </a:p>
      </dsp:txBody>
      <dsp:txXfrm>
        <a:off x="1868660" y="2162515"/>
        <a:ext cx="1589062" cy="635625"/>
      </dsp:txXfrm>
    </dsp:sp>
    <dsp:sp modelId="{0FE784A4-E4A1-49D0-BB06-BDD93162C91B}">
      <dsp:nvSpPr>
        <dsp:cNvPr id="0" name=""/>
        <dsp:cNvSpPr/>
      </dsp:nvSpPr>
      <dsp:spPr>
        <a:xfrm>
          <a:off x="4045676" y="891264"/>
          <a:ext cx="969328" cy="96932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8FA693-993D-4740-95A0-AFBCE303B357}">
      <dsp:nvSpPr>
        <dsp:cNvPr id="0" name=""/>
        <dsp:cNvSpPr/>
      </dsp:nvSpPr>
      <dsp:spPr>
        <a:xfrm>
          <a:off x="4252254" y="1097843"/>
          <a:ext cx="556171" cy="5561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446138-CE32-4D6C-872F-BD8866E1F206}">
      <dsp:nvSpPr>
        <dsp:cNvPr id="0" name=""/>
        <dsp:cNvSpPr/>
      </dsp:nvSpPr>
      <dsp:spPr>
        <a:xfrm>
          <a:off x="3735809" y="21625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i="0" kern="1200"/>
            <a:t>Project Architecture - Data F</a:t>
          </a:r>
          <a:r>
            <a:rPr lang="en-US" sz="1300" kern="1200"/>
            <a:t>low Diagram</a:t>
          </a:r>
        </a:p>
      </dsp:txBody>
      <dsp:txXfrm>
        <a:off x="3735809" y="2162515"/>
        <a:ext cx="1589062" cy="635625"/>
      </dsp:txXfrm>
    </dsp:sp>
    <dsp:sp modelId="{F4083A00-1F38-4804-BDED-DA9B04A51E18}">
      <dsp:nvSpPr>
        <dsp:cNvPr id="0" name=""/>
        <dsp:cNvSpPr/>
      </dsp:nvSpPr>
      <dsp:spPr>
        <a:xfrm>
          <a:off x="5912824" y="891264"/>
          <a:ext cx="969328" cy="96932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0010E5-FA05-42D6-91DF-37C228C8E6EC}">
      <dsp:nvSpPr>
        <dsp:cNvPr id="0" name=""/>
        <dsp:cNvSpPr/>
      </dsp:nvSpPr>
      <dsp:spPr>
        <a:xfrm>
          <a:off x="6119402" y="1097843"/>
          <a:ext cx="556171" cy="5561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C36C13-01FA-4A62-8340-9054F388DEA1}">
      <dsp:nvSpPr>
        <dsp:cNvPr id="0" name=""/>
        <dsp:cNvSpPr/>
      </dsp:nvSpPr>
      <dsp:spPr>
        <a:xfrm>
          <a:off x="5602957" y="21625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i="0" kern="1200"/>
            <a:t>Data Collection</a:t>
          </a:r>
          <a:endParaRPr lang="en-US" sz="1300" kern="1200"/>
        </a:p>
      </dsp:txBody>
      <dsp:txXfrm>
        <a:off x="5602957" y="2162515"/>
        <a:ext cx="1589062" cy="635625"/>
      </dsp:txXfrm>
    </dsp:sp>
    <dsp:sp modelId="{7577E043-2445-46A3-B69D-6FE6A3A58BD3}">
      <dsp:nvSpPr>
        <dsp:cNvPr id="0" name=""/>
        <dsp:cNvSpPr/>
      </dsp:nvSpPr>
      <dsp:spPr>
        <a:xfrm>
          <a:off x="7779973" y="891264"/>
          <a:ext cx="969328" cy="96932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1FA234-FA9E-4996-A430-097A3D0DF70A}">
      <dsp:nvSpPr>
        <dsp:cNvPr id="0" name=""/>
        <dsp:cNvSpPr/>
      </dsp:nvSpPr>
      <dsp:spPr>
        <a:xfrm>
          <a:off x="7986551" y="1097843"/>
          <a:ext cx="556171" cy="55617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154895-BA4B-4726-8C47-CB925FF40A23}">
      <dsp:nvSpPr>
        <dsp:cNvPr id="0" name=""/>
        <dsp:cNvSpPr/>
      </dsp:nvSpPr>
      <dsp:spPr>
        <a:xfrm>
          <a:off x="7470105" y="21625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i="0" kern="1200"/>
            <a:t>Exploratory Data Analysis</a:t>
          </a:r>
          <a:endParaRPr lang="en-US" sz="1300" kern="1200"/>
        </a:p>
      </dsp:txBody>
      <dsp:txXfrm>
        <a:off x="7470105" y="2162515"/>
        <a:ext cx="1589062" cy="635625"/>
      </dsp:txXfrm>
    </dsp:sp>
    <dsp:sp modelId="{EC10E482-7FAB-4A54-A9D9-C3BDEE50A43D}">
      <dsp:nvSpPr>
        <dsp:cNvPr id="0" name=""/>
        <dsp:cNvSpPr/>
      </dsp:nvSpPr>
      <dsp:spPr>
        <a:xfrm>
          <a:off x="9647121" y="891264"/>
          <a:ext cx="969328" cy="96932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E739FE-70C6-4FE1-A9D5-78E05DAF29B3}">
      <dsp:nvSpPr>
        <dsp:cNvPr id="0" name=""/>
        <dsp:cNvSpPr/>
      </dsp:nvSpPr>
      <dsp:spPr>
        <a:xfrm>
          <a:off x="9853699" y="1097843"/>
          <a:ext cx="556171" cy="55617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E9B2FD-DABD-44DC-B971-84AC1A7BF247}">
      <dsp:nvSpPr>
        <dsp:cNvPr id="0" name=""/>
        <dsp:cNvSpPr/>
      </dsp:nvSpPr>
      <dsp:spPr>
        <a:xfrm>
          <a:off x="9337254" y="2162515"/>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i="0" kern="1200"/>
            <a:t>Data Visualization</a:t>
          </a:r>
          <a:endParaRPr lang="en-US" sz="1300" kern="1200"/>
        </a:p>
      </dsp:txBody>
      <dsp:txXfrm>
        <a:off x="9337254" y="2162515"/>
        <a:ext cx="1589062" cy="63562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0" name="Google Shape;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f3a8d4be09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Change </a:t>
            </a:r>
            <a:endParaRPr/>
          </a:p>
        </p:txBody>
      </p:sp>
      <p:sp>
        <p:nvSpPr>
          <p:cNvPr id="79" name="Google Shape;79;gf3a8d4be09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IN" dirty="0"/>
          </a:p>
        </p:txBody>
      </p:sp>
      <p:sp>
        <p:nvSpPr>
          <p:cNvPr id="87" name="Google Shape;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f3a8d4be09_2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gf3a8d4be09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Keep observations </a:t>
            </a:r>
            <a:endParaRPr/>
          </a:p>
        </p:txBody>
      </p:sp>
      <p:sp>
        <p:nvSpPr>
          <p:cNvPr id="126" name="Google Shape;12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IN" dirty="0" err="1"/>
              <a:t>Vmmv</a:t>
            </a:r>
            <a:r>
              <a:rPr lang="en-IN" dirty="0"/>
              <a:t>  </a:t>
            </a:r>
          </a:p>
          <a:p>
            <a:pPr marL="0" lvl="0" indent="0" algn="l" rtl="0">
              <a:lnSpc>
                <a:spcPct val="100000"/>
              </a:lnSpc>
              <a:spcBef>
                <a:spcPts val="0"/>
              </a:spcBef>
              <a:spcAft>
                <a:spcPts val="0"/>
              </a:spcAft>
              <a:buSzPts val="1100"/>
              <a:buNone/>
            </a:pPr>
            <a:endParaRPr lang="en-IN" dirty="0"/>
          </a:p>
          <a:p>
            <a:pPr marL="0" lvl="0" indent="0" algn="l" rtl="0">
              <a:lnSpc>
                <a:spcPct val="100000"/>
              </a:lnSpc>
              <a:spcBef>
                <a:spcPts val="0"/>
              </a:spcBef>
              <a:spcAft>
                <a:spcPts val="0"/>
              </a:spcAft>
              <a:buSzPts val="1100"/>
              <a:buNone/>
            </a:pPr>
            <a:endParaRPr lang="en-IN" dirty="0"/>
          </a:p>
          <a:p>
            <a:pPr marL="0" lvl="0" indent="0" algn="l" rtl="0">
              <a:lnSpc>
                <a:spcPct val="100000"/>
              </a:lnSpc>
              <a:spcBef>
                <a:spcPts val="0"/>
              </a:spcBef>
              <a:spcAft>
                <a:spcPts val="0"/>
              </a:spcAft>
              <a:buSzPts val="1100"/>
              <a:buNone/>
            </a:pPr>
            <a:endParaRPr lang="en-IN" dirty="0"/>
          </a:p>
          <a:p>
            <a:pPr marL="0" lvl="0" indent="0" algn="l" rtl="0">
              <a:lnSpc>
                <a:spcPct val="100000"/>
              </a:lnSpc>
              <a:spcBef>
                <a:spcPts val="0"/>
              </a:spcBef>
              <a:spcAft>
                <a:spcPts val="0"/>
              </a:spcAft>
              <a:buSzPts val="1100"/>
              <a:buNone/>
            </a:pPr>
            <a:endParaRPr dirty="0"/>
          </a:p>
        </p:txBody>
      </p:sp>
      <p:sp>
        <p:nvSpPr>
          <p:cNvPr id="142" name="Google Shape;142;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70731-F6D1-833F-701C-198895CA58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C943C5-A892-9321-7E87-1C5DC3A339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EE697E-0C54-480B-CD82-8C444EC7329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F995107-CFDD-AA05-E5A4-FD625BD569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194D20-0341-7453-FA2A-0055694F9F6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54520643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ABD66-F4B1-9DB4-7461-09DD4B4C9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8CCE79-F87C-1FE7-8F49-EBE84AAB0C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B0E67-0FB3-9F02-4283-47ADD1A715C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E47843E-046B-0499-36E5-6BF2CFE1AB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B9E90D-E086-42D9-34C5-B4C40B00A7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1814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6A93-A6A3-A59B-5CD0-CAF626146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A5E915-178B-1FF4-B40B-F093F9FF30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575B66-8B0A-1E00-FF03-C960A2C8F66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C423C0D-D351-CF81-4196-3BE7AC42BE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B36F35-AFE5-5BE2-BC00-1E40303ADBF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1095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29FA-767C-A100-D4F7-B3F7187E86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DD9784-8068-07A5-8AD0-6635AF0F9D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84A1BE-2A5B-F5C5-F9C7-0D7E7A9F14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2D7037-E4FE-D09B-324A-12557780AE9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ADEED45-3E73-8428-4F6B-2186D690DE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CA347E-669F-6761-BC8C-C4035E7632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0307959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E465-7361-85FA-6D8B-58919BCE97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A21543-9B9C-06D0-F1B2-EEF8AF3226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1E506A-EFC5-73D4-0A37-5657B9D164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784C3C-5CA8-1947-4B1B-CA6D9DD311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D3814B-9E47-F15E-A122-B5B7CEE4C6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F0D4C9-58FE-5F79-1E06-7829618539A3}"/>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E59BAD29-7E8A-8C20-C4DB-F2889EA760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23D375-2A1D-1769-A3A7-618827BE18C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83303724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FE9C-FFE2-C951-326D-9DB75E3188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C4D76F-5970-334E-F863-E8EB00FCFA26}"/>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1FAB23C-4CB6-9E9A-DA63-3964A09B74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0BA772-2B4B-A6A3-EFF1-CFEE4806BA1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2254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679EF0-26DD-8F4D-C9D5-21166CE6F060}"/>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D11CC479-DD51-9AD3-DBFC-70161A610F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3638CC-2B7E-3930-B643-DDCE5B7E746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10650622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F4B0C-5B08-083C-2B4A-54B939E065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B73B23-9323-7CE0-30F7-580960C4C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920FDD-4B9D-2FF8-8304-B04A54D43D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7B1C34-1C94-71C7-EED8-E9DBFBF28A8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D66B11DF-D59E-B4F2-6C26-0CCEA3F590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31CF74-CD99-9CEB-F06A-30D2A77046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1751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6B57-305B-F45B-28B1-B9F4C86684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CABFB9-D3C3-4143-1C43-26699A589E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7AB237-DFE9-A385-35DA-7502F843BC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281C0C-BFDE-9C53-D75C-FB9447C98C1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34271AF-019B-82DB-44F5-107926D897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33974E0-95E6-A329-EB15-5014368150B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407795849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78A03-4E92-DD15-5DDC-97BF1770E4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87BB42-BCBE-5726-DB19-239F208297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4CE21-B3BB-6B93-1279-F568EB427FE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F9597B8-F417-4268-783D-C263D9773E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C20023-F3A2-53EE-D8F0-B8AD90ADA1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43417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6ED1EE-ED88-71E6-EC86-24A6A5896B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D9DF42-2BBB-150E-6DB7-7439BFAB0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F75FC-8F03-A684-B8BD-4A5ED9BE50D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4EE7916-3938-5042-564A-6E08B5E611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D71E57-0B91-FDC0-C4B6-3DCFD8CDD1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82814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1"/>
        <p:cNvGrpSpPr/>
        <p:nvPr/>
      </p:nvGrpSpPr>
      <p:grpSpPr>
        <a:xfrm>
          <a:off x="0" y="0"/>
          <a:ext cx="0" cy="0"/>
          <a:chOff x="0" y="0"/>
          <a:chExt cx="0" cy="0"/>
        </a:xfrm>
      </p:grpSpPr>
      <p:sp>
        <p:nvSpPr>
          <p:cNvPr id="23" name="Google Shape;23;gf3a8d4be09_2_86"/>
          <p:cNvSpPr txBox="1">
            <a:spLocks noGrp="1"/>
          </p:cNvSpPr>
          <p:nvPr>
            <p:ph type="title"/>
          </p:nvPr>
        </p:nvSpPr>
        <p:spPr>
          <a:xfrm>
            <a:off x="228600" y="187044"/>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gf3a8d4be09_2_86"/>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68403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6"/>
        <p:cNvGrpSpPr/>
        <p:nvPr/>
      </p:nvGrpSpPr>
      <p:grpSpPr>
        <a:xfrm>
          <a:off x="0" y="0"/>
          <a:ext cx="0" cy="0"/>
          <a:chOff x="0" y="0"/>
          <a:chExt cx="0" cy="0"/>
        </a:xfrm>
      </p:grpSpPr>
      <p:sp>
        <p:nvSpPr>
          <p:cNvPr id="28" name="Google Shape;28;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10959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90B5B2-5F73-F63B-8666-57EAAA61E7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03E605-5603-4225-C1AF-CA84FA4E2F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57994-6B02-0E3F-F143-EE04EC71F6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4B12E571-1561-6D40-DBF6-7736854E70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9F0AC6-8EBB-9216-26AF-C553127C52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273823109"/>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1"/>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3" name="Rectangle 8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Google Shape;72;p1"/>
          <p:cNvSpPr txBox="1">
            <a:spLocks noGrp="1"/>
          </p:cNvSpPr>
          <p:nvPr>
            <p:ph type="title"/>
          </p:nvPr>
        </p:nvSpPr>
        <p:spPr>
          <a:xfrm>
            <a:off x="699714" y="353160"/>
            <a:ext cx="7091300" cy="898581"/>
          </a:xfrm>
          <a:prstGeom prst="rect">
            <a:avLst/>
          </a:prstGeom>
        </p:spPr>
        <p:txBody>
          <a:bodyPr spcFirstLastPara="1" vert="horz" lIns="91440" tIns="45720" rIns="91440" bIns="45720" rtlCol="0" anchor="ctr" anchorCtr="0">
            <a:normAutofit/>
          </a:bodyPr>
          <a:lstStyle/>
          <a:p>
            <a:pPr marL="0" lvl="0" indent="0">
              <a:spcAft>
                <a:spcPts val="0"/>
              </a:spcAft>
              <a:buClr>
                <a:schemeClr val="dk1"/>
              </a:buClr>
              <a:buSzPts val="1800"/>
            </a:pPr>
            <a:r>
              <a:rPr lang="en-US" sz="2800" b="1">
                <a:solidFill>
                  <a:srgbClr val="FFFFFF"/>
                </a:solidFill>
              </a:rPr>
              <a:t>OPTIMIZATION OF STEEL MANUFACTURING</a:t>
            </a:r>
          </a:p>
        </p:txBody>
      </p:sp>
      <p:pic>
        <p:nvPicPr>
          <p:cNvPr id="76" name="Google Shape;76;p1" descr="360DigiTMG Reviews - 52 Reviews of 360digitmg.com | Sitejabber"/>
          <p:cNvPicPr preferRelativeResize="0"/>
          <p:nvPr/>
        </p:nvPicPr>
        <p:blipFill rotWithShape="1">
          <a:blip r:embed="rId3"/>
          <a:stretch/>
        </p:blipFill>
        <p:spPr>
          <a:xfrm>
            <a:off x="715748" y="3269476"/>
            <a:ext cx="5131088" cy="1821536"/>
          </a:xfrm>
          <a:prstGeom prst="rect">
            <a:avLst/>
          </a:prstGeom>
          <a:noFill/>
        </p:spPr>
      </p:pic>
      <p:pic>
        <p:nvPicPr>
          <p:cNvPr id="3" name="Content Placeholder 2">
            <a:extLst>
              <a:ext uri="{FF2B5EF4-FFF2-40B4-BE49-F238E27FC236}">
                <a16:creationId xmlns:a16="http://schemas.microsoft.com/office/drawing/2014/main" id="{2F1BDBD6-1670-19B3-F283-F7BD6127E171}"/>
              </a:ext>
            </a:extLst>
          </p:cNvPr>
          <p:cNvPicPr>
            <a:picLocks noGrp="1" noChangeAspect="1"/>
          </p:cNvPicPr>
          <p:nvPr>
            <p:ph idx="1"/>
          </p:nvPr>
        </p:nvPicPr>
        <p:blipFill>
          <a:blip r:embed="rId4"/>
          <a:stretch>
            <a:fillRect/>
          </a:stretch>
        </p:blipFill>
        <p:spPr>
          <a:xfrm>
            <a:off x="6345165" y="2504230"/>
            <a:ext cx="5131087" cy="3425000"/>
          </a:xfrm>
          <a:prstGeom prst="rect">
            <a:avLst/>
          </a:prstGeom>
          <a:noFill/>
        </p:spPr>
      </p:pic>
      <p:sp>
        <p:nvSpPr>
          <p:cNvPr id="74" name="Google Shape;74;p1"/>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75" name="Google Shape;75;p1"/>
          <p:cNvPicPr preferRelativeResize="0"/>
          <p:nvPr/>
        </p:nvPicPr>
        <p:blipFill rotWithShape="1">
          <a:blip r:embed="rId5">
            <a:alphaModFix/>
          </a:blip>
          <a:srcRect/>
          <a:stretch/>
        </p:blipFill>
        <p:spPr>
          <a:xfrm>
            <a:off x="14086508" y="11637873"/>
            <a:ext cx="158226" cy="16370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0"/>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Google Shape;81;gf3a8d4be09_2_180"/>
          <p:cNvSpPr txBox="1">
            <a:spLocks noGrp="1"/>
          </p:cNvSpPr>
          <p:nvPr>
            <p:ph type="title"/>
          </p:nvPr>
        </p:nvSpPr>
        <p:spPr>
          <a:xfrm>
            <a:off x="1383564" y="348865"/>
            <a:ext cx="9718111" cy="1576446"/>
          </a:xfrm>
          <a:prstGeom prst="rect">
            <a:avLst/>
          </a:prstGeom>
        </p:spPr>
        <p:txBody>
          <a:bodyPr spcFirstLastPara="1" vert="horz" lIns="91440" tIns="45720" rIns="91440" bIns="45720" rtlCol="0" anchor="ctr" anchorCtr="0">
            <a:normAutofit/>
          </a:bodyPr>
          <a:lstStyle/>
          <a:p>
            <a:pPr marL="0" lvl="0" indent="0">
              <a:spcBef>
                <a:spcPct val="0"/>
              </a:spcBef>
              <a:spcAft>
                <a:spcPts val="0"/>
              </a:spcAft>
              <a:buClr>
                <a:schemeClr val="dk1"/>
              </a:buClr>
              <a:buSzPts val="3000"/>
            </a:pPr>
            <a:r>
              <a:rPr lang="en-US" sz="4000" b="1" u="sng" kern="1200">
                <a:solidFill>
                  <a:srgbClr val="FFFFFF"/>
                </a:solidFill>
                <a:latin typeface="+mj-lt"/>
                <a:ea typeface="+mj-ea"/>
                <a:cs typeface="+mj-cs"/>
                <a:sym typeface="Times New Roman"/>
              </a:rPr>
              <a:t>Contents</a:t>
            </a:r>
          </a:p>
        </p:txBody>
      </p:sp>
      <p:sp>
        <p:nvSpPr>
          <p:cNvPr id="82" name="Google Shape;82;gf3a8d4be09_2_180"/>
          <p:cNvSpPr txBox="1">
            <a:spLocks noGrp="1"/>
          </p:cNvSpPr>
          <p:nvPr>
            <p:ph type="sldNum" idx="12"/>
          </p:nvPr>
        </p:nvSpPr>
        <p:spPr>
          <a:xfrm>
            <a:off x="11704320" y="6455664"/>
            <a:ext cx="448056" cy="365125"/>
          </a:xfrm>
          <a:prstGeom prst="rect">
            <a:avLst/>
          </a:prstGeom>
        </p:spPr>
        <p:txBody>
          <a:bodyPr spcFirstLastPara="1" vert="horz" lIns="91440" tIns="45720" rIns="91440" bIns="45720" rtlCol="0" anchor="ctr" anchorCtr="0">
            <a:normAutofit/>
          </a:bodyPr>
          <a:lstStyle/>
          <a:p>
            <a:pPr marR="0" lvl="0" indent="0">
              <a:spcBef>
                <a:spcPts val="0"/>
              </a:spcBef>
              <a:spcAft>
                <a:spcPts val="600"/>
              </a:spcAft>
              <a:buClr>
                <a:srgbClr val="000000"/>
              </a:buClr>
              <a:buSzPts val="1200"/>
              <a:buFont typeface="Arial"/>
              <a:buNone/>
            </a:pPr>
            <a:fld id="{00000000-1234-1234-1234-123412341234}" type="slidenum">
              <a:rPr lang="en-US" sz="1100">
                <a:solidFill>
                  <a:schemeClr val="tx1">
                    <a:lumMod val="50000"/>
                    <a:lumOff val="50000"/>
                  </a:schemeClr>
                </a:solidFill>
                <a:latin typeface="+mn-lt"/>
                <a:ea typeface="+mn-ea"/>
                <a:cs typeface="+mn-cs"/>
              </a:rPr>
              <a:pPr marR="0" lvl="0" indent="0">
                <a:spcBef>
                  <a:spcPts val="0"/>
                </a:spcBef>
                <a:spcAft>
                  <a:spcPts val="600"/>
                </a:spcAft>
                <a:buClr>
                  <a:srgbClr val="000000"/>
                </a:buClr>
                <a:buSzPts val="1200"/>
                <a:buFont typeface="Arial"/>
                <a:buNone/>
              </a:pPr>
              <a:t>2</a:t>
            </a:fld>
            <a:endParaRPr lang="en-US" sz="1100">
              <a:solidFill>
                <a:schemeClr val="tx1">
                  <a:lumMod val="50000"/>
                  <a:lumOff val="50000"/>
                </a:schemeClr>
              </a:solidFill>
              <a:latin typeface="+mn-lt"/>
              <a:ea typeface="+mn-ea"/>
              <a:cs typeface="+mn-cs"/>
            </a:endParaRPr>
          </a:p>
        </p:txBody>
      </p:sp>
      <p:pic>
        <p:nvPicPr>
          <p:cNvPr id="84" name="Google Shape;84;gf3a8d4be09_2_180" descr="360DigiTMG Reviews - 52 Reviews of 360digitmg.com | Sitejabber"/>
          <p:cNvPicPr preferRelativeResize="0"/>
          <p:nvPr/>
        </p:nvPicPr>
        <p:blipFill rotWithShape="1">
          <a:blip r:embed="rId3">
            <a:alphaModFix/>
          </a:blip>
          <a:srcRect/>
          <a:stretch/>
        </p:blipFill>
        <p:spPr>
          <a:xfrm>
            <a:off x="9753110" y="5945834"/>
            <a:ext cx="2277039" cy="808338"/>
          </a:xfrm>
          <a:prstGeom prst="rect">
            <a:avLst/>
          </a:prstGeom>
          <a:noFill/>
          <a:ln>
            <a:noFill/>
          </a:ln>
        </p:spPr>
      </p:pic>
      <p:graphicFrame>
        <p:nvGraphicFramePr>
          <p:cNvPr id="93" name="Google Shape;83;gf3a8d4be09_2_180">
            <a:extLst>
              <a:ext uri="{FF2B5EF4-FFF2-40B4-BE49-F238E27FC236}">
                <a16:creationId xmlns:a16="http://schemas.microsoft.com/office/drawing/2014/main" id="{A65EDA8D-2E93-D65C-83E8-0E1B0343B253}"/>
              </a:ext>
            </a:extLst>
          </p:cNvPr>
          <p:cNvGraphicFramePr/>
          <p:nvPr>
            <p:extLst>
              <p:ext uri="{D42A27DB-BD31-4B8C-83A1-F6EECF244321}">
                <p14:modId xmlns:p14="http://schemas.microsoft.com/office/powerpoint/2010/main" val="351935443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6"/>
          <p:cNvSpPr txBox="1">
            <a:spLocks noGrp="1"/>
          </p:cNvSpPr>
          <p:nvPr>
            <p:ph type="title"/>
          </p:nvPr>
        </p:nvSpPr>
        <p:spPr>
          <a:xfrm>
            <a:off x="228600" y="177814"/>
            <a:ext cx="10515600" cy="53544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u="sng" dirty="0">
                <a:latin typeface="+mj-lt"/>
                <a:ea typeface="Times New Roman"/>
                <a:cs typeface="Times New Roman"/>
                <a:sym typeface="Times New Roman"/>
              </a:rPr>
              <a:t>Business</a:t>
            </a:r>
            <a:r>
              <a:rPr lang="en-US" sz="2800" b="1" u="sng" dirty="0">
                <a:latin typeface="+mj-lt"/>
                <a:ea typeface="Times New Roman"/>
                <a:cs typeface="Times New Roman"/>
                <a:sym typeface="Times New Roman"/>
              </a:rPr>
              <a:t> </a:t>
            </a:r>
            <a:r>
              <a:rPr lang="en-US" sz="3200" b="1" u="sng" dirty="0">
                <a:latin typeface="+mj-lt"/>
                <a:ea typeface="Times New Roman"/>
                <a:cs typeface="Times New Roman"/>
                <a:sym typeface="Times New Roman"/>
              </a:rPr>
              <a:t>Problems</a:t>
            </a:r>
            <a:endParaRPr sz="3200" b="1" u="sng" dirty="0">
              <a:latin typeface="+mj-lt"/>
              <a:ea typeface="Times New Roman"/>
              <a:cs typeface="Times New Roman"/>
              <a:sym typeface="Times New Roman"/>
            </a:endParaRPr>
          </a:p>
        </p:txBody>
      </p:sp>
      <p:pic>
        <p:nvPicPr>
          <p:cNvPr id="90" name="Google Shape;90;p6" descr="360DigiTMG Reviews - 52 Reviews of 360digitmg.com | Sitejabber"/>
          <p:cNvPicPr preferRelativeResize="0"/>
          <p:nvPr/>
        </p:nvPicPr>
        <p:blipFill rotWithShape="1">
          <a:blip r:embed="rId3">
            <a:alphaModFix/>
          </a:blip>
          <a:srcRect/>
          <a:stretch/>
        </p:blipFill>
        <p:spPr>
          <a:xfrm>
            <a:off x="9753110" y="5945834"/>
            <a:ext cx="2277039" cy="808338"/>
          </a:xfrm>
          <a:prstGeom prst="rect">
            <a:avLst/>
          </a:prstGeom>
          <a:noFill/>
          <a:ln>
            <a:noFill/>
          </a:ln>
        </p:spPr>
      </p:pic>
      <p:sp>
        <p:nvSpPr>
          <p:cNvPr id="2" name="Google Shape;100;gf3a8d4be09_2_92">
            <a:extLst>
              <a:ext uri="{FF2B5EF4-FFF2-40B4-BE49-F238E27FC236}">
                <a16:creationId xmlns:a16="http://schemas.microsoft.com/office/drawing/2014/main" id="{2377F21B-D3D0-7E48-D97D-F13D2080B54C}"/>
              </a:ext>
            </a:extLst>
          </p:cNvPr>
          <p:cNvSpPr txBox="1"/>
          <p:nvPr/>
        </p:nvSpPr>
        <p:spPr>
          <a:xfrm>
            <a:off x="302999" y="1028358"/>
            <a:ext cx="10441201" cy="4154953"/>
          </a:xfrm>
          <a:prstGeom prst="rect">
            <a:avLst/>
          </a:prstGeom>
          <a:noFill/>
          <a:ln>
            <a:noFill/>
          </a:ln>
        </p:spPr>
        <p:txBody>
          <a:bodyPr spcFirstLastPara="1" wrap="square" lIns="91425" tIns="91425" rIns="91425" bIns="91425" anchor="t" anchorCtr="0">
            <a:spAutoFit/>
          </a:bodyPr>
          <a:lstStyle/>
          <a:p>
            <a:pPr marL="457200" indent="-457200">
              <a:buClr>
                <a:srgbClr val="000000"/>
              </a:buClr>
              <a:buSzPts val="3000"/>
              <a:buFont typeface="Arial" panose="020B0604020202020204" pitchFamily="34" charset="0"/>
              <a:buChar char="•"/>
            </a:pPr>
            <a:r>
              <a:rPr lang="en-IN" sz="2800" dirty="0">
                <a:solidFill>
                  <a:srgbClr val="000000"/>
                </a:solidFill>
                <a:ea typeface="Calibri"/>
                <a:cs typeface="Calibri"/>
                <a:sym typeface="Calibri"/>
              </a:rPr>
              <a:t>The company faces challenges with inconsistent material mix and power consumption, leading to issues with product quality. </a:t>
            </a:r>
          </a:p>
          <a:p>
            <a:pPr marL="457200" indent="-457200">
              <a:buClr>
                <a:srgbClr val="000000"/>
              </a:buClr>
              <a:buSzPts val="3000"/>
              <a:buFont typeface="Arial" panose="020B0604020202020204" pitchFamily="34" charset="0"/>
              <a:buChar char="•"/>
            </a:pPr>
            <a:endParaRPr lang="en-IN" sz="2800" dirty="0">
              <a:solidFill>
                <a:srgbClr val="000000"/>
              </a:solidFill>
              <a:ea typeface="Calibri"/>
              <a:cs typeface="Calibri"/>
              <a:sym typeface="Calibri"/>
            </a:endParaRPr>
          </a:p>
          <a:p>
            <a:pPr marL="457200" indent="-457200">
              <a:buClr>
                <a:srgbClr val="000000"/>
              </a:buClr>
              <a:buSzPts val="3000"/>
              <a:buFont typeface="Arial" panose="020B0604020202020204" pitchFamily="34" charset="0"/>
              <a:buChar char="•"/>
            </a:pPr>
            <a:r>
              <a:rPr lang="en-IN" sz="2800" dirty="0">
                <a:solidFill>
                  <a:srgbClr val="000000"/>
                </a:solidFill>
                <a:ea typeface="Calibri"/>
                <a:cs typeface="Calibri"/>
                <a:sym typeface="Calibri"/>
              </a:rPr>
              <a:t>Finding the optimal combination of materials and power usage will help improve efficiency, reduce costs, and maintain consistent product quality.</a:t>
            </a:r>
          </a:p>
          <a:p>
            <a:pPr marL="0" marR="0" lvl="0" indent="0" algn="l" rtl="0">
              <a:lnSpc>
                <a:spcPct val="100000"/>
              </a:lnSpc>
              <a:spcBef>
                <a:spcPts val="0"/>
              </a:spcBef>
              <a:spcAft>
                <a:spcPts val="0"/>
              </a:spcAft>
              <a:buClr>
                <a:srgbClr val="000000"/>
              </a:buClr>
              <a:buSzPts val="3000"/>
              <a:buFont typeface="Arial"/>
              <a:buNone/>
            </a:pPr>
            <a:endParaRPr lang="en-IN" sz="30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sz="3000" b="1" i="0" u="none" strike="noStrike" cap="none" dirty="0">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gf3a8d4be09_2_92"/>
          <p:cNvSpPr txBox="1">
            <a:spLocks noGrp="1"/>
          </p:cNvSpPr>
          <p:nvPr>
            <p:ph type="title"/>
          </p:nvPr>
        </p:nvSpPr>
        <p:spPr>
          <a:xfrm>
            <a:off x="228600" y="191607"/>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u="sng" dirty="0">
                <a:latin typeface="+mj-lt"/>
                <a:ea typeface="Times New Roman"/>
                <a:cs typeface="Times New Roman"/>
                <a:sym typeface="Times New Roman"/>
              </a:rPr>
              <a:t>Project Overview and Scope</a:t>
            </a:r>
            <a:endParaRPr sz="3200" b="1" u="sng" dirty="0">
              <a:latin typeface="+mj-lt"/>
              <a:ea typeface="Times New Roman"/>
              <a:cs typeface="Times New Roman"/>
              <a:sym typeface="Times New Roman"/>
            </a:endParaRPr>
          </a:p>
        </p:txBody>
      </p:sp>
      <p:sp>
        <p:nvSpPr>
          <p:cNvPr id="96" name="Google Shape;96;gf3a8d4be09_2_92"/>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
        <p:nvSpPr>
          <p:cNvPr id="97" name="Google Shape;97;gf3a8d4be09_2_92"/>
          <p:cNvSpPr txBox="1"/>
          <p:nvPr/>
        </p:nvSpPr>
        <p:spPr>
          <a:xfrm>
            <a:off x="4099475" y="1187700"/>
            <a:ext cx="2164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98" name="Google Shape;98;gf3a8d4be09_2_92"/>
          <p:cNvSpPr txBox="1"/>
          <p:nvPr/>
        </p:nvSpPr>
        <p:spPr>
          <a:xfrm>
            <a:off x="6053425" y="2493975"/>
            <a:ext cx="3409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99" name="Google Shape;99;gf3a8d4be09_2_92"/>
          <p:cNvSpPr txBox="1"/>
          <p:nvPr/>
        </p:nvSpPr>
        <p:spPr>
          <a:xfrm>
            <a:off x="5938500" y="3792975"/>
            <a:ext cx="3275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1" i="0" u="none" strike="noStrike" cap="none">
              <a:solidFill>
                <a:srgbClr val="000000"/>
              </a:solidFill>
              <a:latin typeface="Calibri"/>
              <a:ea typeface="Calibri"/>
              <a:cs typeface="Calibri"/>
              <a:sym typeface="Calibri"/>
            </a:endParaRPr>
          </a:p>
        </p:txBody>
      </p:sp>
      <p:sp>
        <p:nvSpPr>
          <p:cNvPr id="100" name="Google Shape;100;gf3a8d4be09_2_92"/>
          <p:cNvSpPr txBox="1"/>
          <p:nvPr/>
        </p:nvSpPr>
        <p:spPr>
          <a:xfrm>
            <a:off x="228600" y="653838"/>
            <a:ext cx="8654143" cy="7663606"/>
          </a:xfrm>
          <a:prstGeom prst="rect">
            <a:avLst/>
          </a:prstGeom>
          <a:noFill/>
          <a:ln>
            <a:noFill/>
          </a:ln>
        </p:spPr>
        <p:txBody>
          <a:bodyPr spcFirstLastPara="1" wrap="square" lIns="91425" tIns="91425" rIns="91425" bIns="91425" anchor="t" anchorCtr="0">
            <a:spAutoFit/>
          </a:bodyPr>
          <a:lstStyle/>
          <a:p>
            <a:endParaRPr lang="en-US" dirty="0"/>
          </a:p>
          <a:p>
            <a:r>
              <a:rPr lang="en-US" dirty="0"/>
              <a:t>The Optimization of Steel Manufacturing project focuses on improving the efficiency, quality, and cost-effectiveness of steel production processes. By analyzing and optimizing various aspects of the manufacturing process—such as raw material usage, energy consumption, process timing, temperature control, and equipment performance—the project aims to enhance overall production outcomes while reducing waste and costs.</a:t>
            </a:r>
          </a:p>
          <a:p>
            <a:r>
              <a:rPr lang="en-US" b="1" dirty="0"/>
              <a:t>Scope:</a:t>
            </a:r>
          </a:p>
          <a:p>
            <a:r>
              <a:rPr lang="en-US" dirty="0"/>
              <a:t>The scope of the project includes:</a:t>
            </a:r>
          </a:p>
          <a:p>
            <a:pPr>
              <a:buFont typeface="+mj-lt"/>
              <a:buAutoNum type="arabicPeriod"/>
            </a:pPr>
            <a:r>
              <a:rPr lang="en-US" b="1" dirty="0"/>
              <a:t>Material Optimization</a:t>
            </a:r>
            <a:r>
              <a:rPr lang="en-US" dirty="0"/>
              <a:t>: Efficient use of raw materials like coke, scrap, and iron to reduce costs and improve sustainability.</a:t>
            </a:r>
          </a:p>
          <a:p>
            <a:pPr>
              <a:buFont typeface="+mj-lt"/>
              <a:buAutoNum type="arabicPeriod"/>
            </a:pPr>
            <a:r>
              <a:rPr lang="en-US" b="1" dirty="0"/>
              <a:t>Energy Management</a:t>
            </a:r>
            <a:r>
              <a:rPr lang="en-US" dirty="0"/>
              <a:t>: Reducing energy consumption while maintaining high production quality.</a:t>
            </a:r>
          </a:p>
          <a:p>
            <a:pPr>
              <a:buFont typeface="+mj-lt"/>
              <a:buAutoNum type="arabicPeriod"/>
            </a:pPr>
            <a:r>
              <a:rPr lang="en-US" b="1" dirty="0"/>
              <a:t>Process Efficiency</a:t>
            </a:r>
            <a:r>
              <a:rPr lang="en-US" dirty="0"/>
              <a:t>: Streamlining production times, minimizing downtime, and optimizing cycle times to increase output.</a:t>
            </a:r>
          </a:p>
          <a:p>
            <a:pPr>
              <a:buFont typeface="+mj-lt"/>
              <a:buAutoNum type="arabicPeriod"/>
            </a:pPr>
            <a:r>
              <a:rPr lang="en-US" b="1" dirty="0"/>
              <a:t>Quality Control</a:t>
            </a:r>
            <a:r>
              <a:rPr lang="en-US" dirty="0"/>
              <a:t>: Ensuring consistent chemical composition and product quality.</a:t>
            </a:r>
          </a:p>
          <a:p>
            <a:pPr>
              <a:buFont typeface="+mj-lt"/>
              <a:buAutoNum type="arabicPeriod"/>
            </a:pPr>
            <a:r>
              <a:rPr lang="en-US" b="1" dirty="0"/>
              <a:t>Equipment Maintenance</a:t>
            </a:r>
            <a:r>
              <a:rPr lang="en-US" dirty="0"/>
              <a:t>: Monitoring and optimizing equipment performance to reduce breakdowns and prolong machinery lifespan.</a:t>
            </a:r>
          </a:p>
          <a:p>
            <a:pPr>
              <a:buFont typeface="+mj-lt"/>
              <a:buAutoNum type="arabicPeriod"/>
            </a:pPr>
            <a:r>
              <a:rPr lang="en-US" b="1" dirty="0"/>
              <a:t>Waste Reduction</a:t>
            </a:r>
            <a:r>
              <a:rPr lang="en-US" dirty="0"/>
              <a:t>: Minimizing waste and improving recycling processes to enhance environmental sustainability.</a:t>
            </a: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sz="3000" b="1" i="0" u="none" strike="noStrike" cap="none" dirty="0">
              <a:solidFill>
                <a:srgbClr val="000000"/>
              </a:solidFill>
              <a:latin typeface="Calibri"/>
              <a:ea typeface="Calibri"/>
              <a:cs typeface="Calibri"/>
              <a:sym typeface="Calibri"/>
            </a:endParaRPr>
          </a:p>
        </p:txBody>
      </p:sp>
      <p:pic>
        <p:nvPicPr>
          <p:cNvPr id="101" name="Google Shape;101;gf3a8d4be09_2_92"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575C14-AC69-E77E-DE0B-F2D02407A701}"/>
              </a:ext>
            </a:extLst>
          </p:cNvPr>
          <p:cNvSpPr>
            <a:spLocks noGrp="1"/>
          </p:cNvSpPr>
          <p:nvPr>
            <p:ph type="title"/>
          </p:nvPr>
        </p:nvSpPr>
        <p:spPr>
          <a:xfrm>
            <a:off x="636721" y="-1"/>
            <a:ext cx="9654944" cy="677863"/>
          </a:xfrm>
        </p:spPr>
        <p:txBody>
          <a:bodyPr>
            <a:normAutofit/>
          </a:bodyPr>
          <a:lstStyle/>
          <a:p>
            <a:r>
              <a:rPr lang="en-IN" sz="3200" b="1" u="sng" dirty="0"/>
              <a:t>Data Dictionary</a:t>
            </a:r>
          </a:p>
        </p:txBody>
      </p:sp>
      <p:graphicFrame>
        <p:nvGraphicFramePr>
          <p:cNvPr id="230" name="Content Placeholder 229">
            <a:extLst>
              <a:ext uri="{FF2B5EF4-FFF2-40B4-BE49-F238E27FC236}">
                <a16:creationId xmlns:a16="http://schemas.microsoft.com/office/drawing/2014/main" id="{E4462D7F-6F8B-6C11-26C3-9D84848D97E8}"/>
              </a:ext>
            </a:extLst>
          </p:cNvPr>
          <p:cNvGraphicFramePr>
            <a:graphicFrameLocks noGrp="1"/>
          </p:cNvGraphicFramePr>
          <p:nvPr>
            <p:ph sz="half" idx="1"/>
            <p:extLst>
              <p:ext uri="{D42A27DB-BD31-4B8C-83A1-F6EECF244321}">
                <p14:modId xmlns:p14="http://schemas.microsoft.com/office/powerpoint/2010/main" val="2438212879"/>
              </p:ext>
            </p:extLst>
          </p:nvPr>
        </p:nvGraphicFramePr>
        <p:xfrm>
          <a:off x="5859463" y="677862"/>
          <a:ext cx="4684711" cy="5970693"/>
        </p:xfrm>
        <a:graphic>
          <a:graphicData uri="http://schemas.openxmlformats.org/drawingml/2006/table">
            <a:tbl>
              <a:tblPr>
                <a:tableStyleId>{616DA210-FB5B-4158-B5E0-FEB733F419BA}</a:tableStyleId>
              </a:tblPr>
              <a:tblGrid>
                <a:gridCol w="1505164">
                  <a:extLst>
                    <a:ext uri="{9D8B030D-6E8A-4147-A177-3AD203B41FA5}">
                      <a16:colId xmlns:a16="http://schemas.microsoft.com/office/drawing/2014/main" val="223315808"/>
                    </a:ext>
                  </a:extLst>
                </a:gridCol>
                <a:gridCol w="1727821">
                  <a:extLst>
                    <a:ext uri="{9D8B030D-6E8A-4147-A177-3AD203B41FA5}">
                      <a16:colId xmlns:a16="http://schemas.microsoft.com/office/drawing/2014/main" val="278132566"/>
                    </a:ext>
                  </a:extLst>
                </a:gridCol>
                <a:gridCol w="1451726">
                  <a:extLst>
                    <a:ext uri="{9D8B030D-6E8A-4147-A177-3AD203B41FA5}">
                      <a16:colId xmlns:a16="http://schemas.microsoft.com/office/drawing/2014/main" val="604557656"/>
                    </a:ext>
                  </a:extLst>
                </a:gridCol>
              </a:tblGrid>
              <a:tr h="352406">
                <a:tc>
                  <a:txBody>
                    <a:bodyPr/>
                    <a:lstStyle/>
                    <a:p>
                      <a:pPr algn="ctr" fontAlgn="ctr"/>
                      <a:r>
                        <a:rPr lang="en-IN" sz="800" u="none" strike="noStrike" dirty="0">
                          <a:effectLst/>
                        </a:rPr>
                        <a:t>DRI1_QTY (MT) (Lumps)</a:t>
                      </a:r>
                      <a:endParaRPr lang="en-IN" sz="800" b="0" i="0" u="none" strike="noStrike" dirty="0">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dirty="0">
                          <a:effectLst/>
                        </a:rPr>
                        <a:t>DRI (Direct Reduced Iron) Lumps quantity</a:t>
                      </a:r>
                      <a:endParaRPr lang="en-IN" sz="800" b="0" i="0" u="none" strike="noStrike" dirty="0">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a:effectLst/>
                        </a:rPr>
                        <a:t>Ratio</a:t>
                      </a:r>
                      <a:endParaRPr lang="en-IN" sz="800" b="0" i="0" u="none" strike="noStrike">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381980190"/>
                  </a:ext>
                </a:extLst>
              </a:tr>
              <a:tr h="352406">
                <a:tc>
                  <a:txBody>
                    <a:bodyPr/>
                    <a:lstStyle/>
                    <a:p>
                      <a:pPr algn="ctr" fontAlgn="ctr"/>
                      <a:r>
                        <a:rPr lang="en-IN" sz="800" u="none" strike="noStrike">
                          <a:effectLst/>
                        </a:rPr>
                        <a:t>"DRI2_QTY</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dirty="0">
                          <a:effectLst/>
                        </a:rPr>
                        <a:t>DRI (Direct Reduced Iron) Fines quantity</a:t>
                      </a:r>
                      <a:endParaRPr lang="en-IN" sz="800" b="0" i="0" u="none" strike="noStrike" dirty="0">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a:effectLst/>
                        </a:rPr>
                        <a:t>Ratio</a:t>
                      </a:r>
                      <a:endParaRPr lang="en-IN" sz="800" b="0" i="0" u="none" strike="noStrike">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792510456"/>
                  </a:ext>
                </a:extLst>
              </a:tr>
              <a:tr h="249395">
                <a:tc>
                  <a:txBody>
                    <a:bodyPr/>
                    <a:lstStyle/>
                    <a:p>
                      <a:pPr algn="ctr" fontAlgn="ctr"/>
                      <a:r>
                        <a:rPr lang="en-IN" sz="800" u="none" strike="noStrike">
                          <a:effectLst/>
                        </a:rPr>
                        <a:t>TOT_DRI_QTY</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dirty="0">
                          <a:effectLst/>
                        </a:rPr>
                        <a:t>Total DRI quantity</a:t>
                      </a:r>
                      <a:endParaRPr lang="en-IN" sz="800" b="0" i="0" u="none" strike="noStrike" dirty="0">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a:effectLst/>
                        </a:rPr>
                        <a:t>Ratio</a:t>
                      </a:r>
                      <a:endParaRPr lang="en-IN" sz="800" b="0" i="0" u="none" strike="noStrike">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779638839"/>
                  </a:ext>
                </a:extLst>
              </a:tr>
              <a:tr h="352406">
                <a:tc>
                  <a:txBody>
                    <a:bodyPr/>
                    <a:lstStyle/>
                    <a:p>
                      <a:pPr algn="ctr" fontAlgn="ctr"/>
                      <a:r>
                        <a:rPr lang="en-IN" sz="800" u="none" strike="noStrike">
                          <a:effectLst/>
                        </a:rPr>
                        <a:t>HOT_METAL (HOT Metal from MBF)</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Hot metal from blast furnace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a:effectLst/>
                        </a:rPr>
                        <a:t>Ratio</a:t>
                      </a:r>
                      <a:endParaRPr lang="en-IN" sz="800" b="0" i="0" u="none" strike="noStrike">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887335227"/>
                  </a:ext>
                </a:extLst>
              </a:tr>
              <a:tr h="249395">
                <a:tc>
                  <a:txBody>
                    <a:bodyPr/>
                    <a:lstStyle/>
                    <a:p>
                      <a:pPr algn="ctr" fontAlgn="ctr"/>
                      <a:r>
                        <a:rPr lang="en-IN" sz="800" u="none" strike="noStrike">
                          <a:effectLst/>
                        </a:rPr>
                        <a:t>Total Charge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Total charge input</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a:effectLst/>
                        </a:rPr>
                        <a:t>Ratio</a:t>
                      </a:r>
                      <a:endParaRPr lang="en-IN" sz="800" b="0" i="0" u="none" strike="noStrike">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88206355"/>
                  </a:ext>
                </a:extLst>
              </a:tr>
              <a:tr h="352406">
                <a:tc>
                  <a:txBody>
                    <a:bodyPr/>
                    <a:lstStyle/>
                    <a:p>
                      <a:pPr algn="ctr" fontAlgn="ctr"/>
                      <a:r>
                        <a:rPr lang="nl-NL" sz="800" u="none" strike="noStrike">
                          <a:effectLst/>
                        </a:rPr>
                        <a:t>Hot_Heel (Left Over Liquid metal in EAF)</a:t>
                      </a:r>
                      <a:endParaRPr lang="nl-NL"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Leftover liquid metal in EAF</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796007060"/>
                  </a:ext>
                </a:extLst>
              </a:tr>
              <a:tr h="249395">
                <a:tc>
                  <a:txBody>
                    <a:bodyPr/>
                    <a:lstStyle/>
                    <a:p>
                      <a:pPr algn="ctr" fontAlgn="ctr"/>
                      <a:r>
                        <a:rPr lang="en-IN" sz="800" u="none" strike="noStrike">
                          <a:effectLst/>
                        </a:rPr>
                        <a:t>DOLO</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Dolomite content</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819306787"/>
                  </a:ext>
                </a:extLst>
              </a:tr>
              <a:tr h="249395">
                <a:tc>
                  <a:txBody>
                    <a:bodyPr/>
                    <a:lstStyle/>
                    <a:p>
                      <a:pPr algn="ctr" fontAlgn="ctr"/>
                      <a:r>
                        <a:rPr lang="en-IN" sz="800" u="none" strike="noStrike">
                          <a:effectLst/>
                        </a:rPr>
                        <a:t>DOLO1_EMPTY</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Dolomite 1 empty status</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1358517828"/>
                  </a:ext>
                </a:extLst>
              </a:tr>
              <a:tr h="249395">
                <a:tc>
                  <a:txBody>
                    <a:bodyPr/>
                    <a:lstStyle/>
                    <a:p>
                      <a:pPr algn="ctr" fontAlgn="ctr"/>
                      <a:r>
                        <a:rPr lang="en-IN" sz="800" u="none" strike="noStrike">
                          <a:effectLst/>
                        </a:rPr>
                        <a:t>TOT_LIME_QTY</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Total lime quantity</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2152877196"/>
                  </a:ext>
                </a:extLst>
              </a:tr>
              <a:tr h="352406">
                <a:tc>
                  <a:txBody>
                    <a:bodyPr/>
                    <a:lstStyle/>
                    <a:p>
                      <a:pPr algn="ctr" fontAlgn="ctr"/>
                      <a:r>
                        <a:rPr lang="en-IN" sz="800" u="none" strike="noStrike">
                          <a:effectLst/>
                        </a:rPr>
                        <a:t>TAP_TEMP (Tapping Temperature)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Tapping temperature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Interval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2382139917"/>
                  </a:ext>
                </a:extLst>
              </a:tr>
              <a:tr h="249395">
                <a:tc>
                  <a:txBody>
                    <a:bodyPr/>
                    <a:lstStyle/>
                    <a:p>
                      <a:pPr algn="ctr" fontAlgn="ctr"/>
                      <a:r>
                        <a:rPr lang="en-IN" sz="800" u="none" strike="noStrike">
                          <a:effectLst/>
                        </a:rPr>
                        <a:t>O2REQ</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Oxygen required</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2299003288"/>
                  </a:ext>
                </a:extLst>
              </a:tr>
              <a:tr h="249395">
                <a:tc>
                  <a:txBody>
                    <a:bodyPr/>
                    <a:lstStyle/>
                    <a:p>
                      <a:pPr algn="ctr" fontAlgn="ctr"/>
                      <a:r>
                        <a:rPr lang="en-IN" sz="800" u="none" strike="noStrike">
                          <a:effectLst/>
                        </a:rPr>
                        <a:t>O2ACT</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Actual oxygen content</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288869544"/>
                  </a:ext>
                </a:extLst>
              </a:tr>
              <a:tr h="352406">
                <a:tc>
                  <a:txBody>
                    <a:bodyPr/>
                    <a:lstStyle/>
                    <a:p>
                      <a:pPr algn="ctr" fontAlgn="ctr"/>
                      <a:r>
                        <a:rPr lang="en-IN" sz="800" u="none" strike="noStrike">
                          <a:effectLst/>
                        </a:rPr>
                        <a:t>ENERGY (Energy Consumption)</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Energy consumption</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2821710570"/>
                  </a:ext>
                </a:extLst>
              </a:tr>
              <a:tr h="352406">
                <a:tc>
                  <a:txBody>
                    <a:bodyPr/>
                    <a:lstStyle/>
                    <a:p>
                      <a:pPr algn="ctr" fontAlgn="ctr"/>
                      <a:r>
                        <a:rPr lang="nl-NL" sz="800" u="none" strike="noStrike">
                          <a:effectLst/>
                        </a:rPr>
                        <a:t>KWH_PER_TON (Energy Consumption Per Ton)</a:t>
                      </a:r>
                      <a:endParaRPr lang="nl-NL"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Energy consumption per ton</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682677701"/>
                  </a:ext>
                </a:extLst>
              </a:tr>
              <a:tr h="249395">
                <a:tc>
                  <a:txBody>
                    <a:bodyPr/>
                    <a:lstStyle/>
                    <a:p>
                      <a:pPr algn="ctr" fontAlgn="ctr"/>
                      <a:r>
                        <a:rPr lang="en-IN" sz="800" u="none" strike="noStrike">
                          <a:effectLst/>
                        </a:rPr>
                        <a:t>KWH_PER_MIN</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Energy consumption per minute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Ratio</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1471738559"/>
                  </a:ext>
                </a:extLst>
              </a:tr>
              <a:tr h="249395">
                <a:tc>
                  <a:txBody>
                    <a:bodyPr/>
                    <a:lstStyle/>
                    <a:p>
                      <a:pPr algn="ctr" fontAlgn="ctr"/>
                      <a:r>
                        <a:rPr lang="en-IN" sz="800" u="none" strike="noStrike">
                          <a:effectLst/>
                        </a:rPr>
                        <a:t>MELT_TIME (Melting 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Melting time in EAF</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Ordinal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1990195040"/>
                  </a:ext>
                </a:extLst>
              </a:tr>
              <a:tr h="249395">
                <a:tc>
                  <a:txBody>
                    <a:bodyPr/>
                    <a:lstStyle/>
                    <a:p>
                      <a:pPr algn="ctr" fontAlgn="ctr"/>
                      <a:r>
                        <a:rPr lang="en-US" sz="800" u="none" strike="noStrike">
                          <a:effectLst/>
                        </a:rPr>
                        <a:t>TA_TIME (Turn Around Time)</a:t>
                      </a:r>
                      <a:endParaRPr lang="en-US"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Turnaround 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Ordinal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060427106"/>
                  </a:ext>
                </a:extLst>
              </a:tr>
              <a:tr h="352406">
                <a:tc>
                  <a:txBody>
                    <a:bodyPr/>
                    <a:lstStyle/>
                    <a:p>
                      <a:pPr algn="ctr" fontAlgn="ctr"/>
                      <a:r>
                        <a:rPr lang="en-US" sz="800" u="none" strike="noStrike">
                          <a:effectLst/>
                        </a:rPr>
                        <a:t>TT_TIME (Total Cycle Time Including Breakdown)</a:t>
                      </a:r>
                      <a:endParaRPr lang="en-US"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US" sz="800" u="none" strike="noStrike">
                          <a:effectLst/>
                        </a:rPr>
                        <a:t>Total cycle time including breakdown</a:t>
                      </a:r>
                      <a:endParaRPr lang="en-US"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Ordinal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3114350508"/>
                  </a:ext>
                </a:extLst>
              </a:tr>
              <a:tr h="219165">
                <a:tc>
                  <a:txBody>
                    <a:bodyPr/>
                    <a:lstStyle/>
                    <a:p>
                      <a:pPr algn="ctr" fontAlgn="ctr"/>
                      <a:r>
                        <a:rPr lang="en-IN" sz="800" u="none" strike="noStrike">
                          <a:effectLst/>
                        </a:rPr>
                        <a:t>POW_ON_TIME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Power on 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Interval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2657369243"/>
                  </a:ext>
                </a:extLst>
              </a:tr>
              <a:tr h="219165">
                <a:tc>
                  <a:txBody>
                    <a:bodyPr/>
                    <a:lstStyle/>
                    <a:p>
                      <a:pPr algn="ctr" fontAlgn="ctr"/>
                      <a:r>
                        <a:rPr lang="en-IN" sz="800" u="none" strike="noStrike">
                          <a:effectLst/>
                        </a:rPr>
                        <a:t>TAPPING_TIME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Tapping 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Interval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751248980"/>
                  </a:ext>
                </a:extLst>
              </a:tr>
              <a:tr h="219165">
                <a:tc>
                  <a:txBody>
                    <a:bodyPr/>
                    <a:lstStyle/>
                    <a:p>
                      <a:pPr algn="ctr" fontAlgn="ctr"/>
                      <a:r>
                        <a:rPr lang="en-IN" sz="800" u="none" strike="noStrike">
                          <a:effectLst/>
                        </a:rPr>
                        <a:t>ARCING_TIME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ctr"/>
                      <a:r>
                        <a:rPr lang="en-IN" sz="800" u="none" strike="noStrike">
                          <a:effectLst/>
                        </a:rPr>
                        <a:t>Arcing time</a:t>
                      </a:r>
                      <a:endParaRPr lang="en-IN" sz="800" b="0" i="0" u="none" strike="noStrike">
                        <a:solidFill>
                          <a:srgbClr val="000000"/>
                        </a:solidFill>
                        <a:effectLst/>
                        <a:latin typeface="Calibri" panose="020F0502020204030204" pitchFamily="34" charset="0"/>
                      </a:endParaRPr>
                    </a:p>
                  </a:txBody>
                  <a:tcPr marL="5344" marR="5344" marT="5344" marB="0" anchor="ctr"/>
                </a:tc>
                <a:tc>
                  <a:txBody>
                    <a:bodyPr/>
                    <a:lstStyle/>
                    <a:p>
                      <a:pPr algn="ctr" fontAlgn="b"/>
                      <a:r>
                        <a:rPr lang="en-IN" sz="800" u="none" strike="noStrike" dirty="0">
                          <a:effectLst/>
                        </a:rPr>
                        <a:t>Ordinal</a:t>
                      </a:r>
                      <a:endParaRPr lang="en-IN" sz="800" b="0" i="0" u="none" strike="noStrike" dirty="0">
                        <a:solidFill>
                          <a:srgbClr val="000000"/>
                        </a:solidFill>
                        <a:effectLst/>
                        <a:latin typeface="Calibri" panose="020F0502020204030204" pitchFamily="34" charset="0"/>
                      </a:endParaRPr>
                    </a:p>
                  </a:txBody>
                  <a:tcPr marL="5344" marR="5344" marT="5344" marB="0" anchor="b"/>
                </a:tc>
                <a:extLst>
                  <a:ext uri="{0D108BD9-81ED-4DB2-BD59-A6C34878D82A}">
                    <a16:rowId xmlns:a16="http://schemas.microsoft.com/office/drawing/2014/main" val="1307850873"/>
                  </a:ext>
                </a:extLst>
              </a:tr>
            </a:tbl>
          </a:graphicData>
        </a:graphic>
      </p:graphicFrame>
      <p:graphicFrame>
        <p:nvGraphicFramePr>
          <p:cNvPr id="226" name="Content Placeholder 225">
            <a:extLst>
              <a:ext uri="{FF2B5EF4-FFF2-40B4-BE49-F238E27FC236}">
                <a16:creationId xmlns:a16="http://schemas.microsoft.com/office/drawing/2014/main" id="{DBCC5CB0-6E86-88D2-9875-CDB4CF4DCB9E}"/>
              </a:ext>
            </a:extLst>
          </p:cNvPr>
          <p:cNvGraphicFramePr>
            <a:graphicFrameLocks noGrp="1"/>
          </p:cNvGraphicFramePr>
          <p:nvPr>
            <p:ph sz="half" idx="2"/>
            <p:extLst>
              <p:ext uri="{D42A27DB-BD31-4B8C-83A1-F6EECF244321}">
                <p14:modId xmlns:p14="http://schemas.microsoft.com/office/powerpoint/2010/main" val="923558562"/>
              </p:ext>
            </p:extLst>
          </p:nvPr>
        </p:nvGraphicFramePr>
        <p:xfrm>
          <a:off x="524754" y="677863"/>
          <a:ext cx="5092700" cy="5970693"/>
        </p:xfrm>
        <a:graphic>
          <a:graphicData uri="http://schemas.openxmlformats.org/drawingml/2006/table">
            <a:tbl>
              <a:tblPr>
                <a:tableStyleId>{5940675A-B579-460E-94D1-54222C63F5DA}</a:tableStyleId>
              </a:tblPr>
              <a:tblGrid>
                <a:gridCol w="1636248">
                  <a:extLst>
                    <a:ext uri="{9D8B030D-6E8A-4147-A177-3AD203B41FA5}">
                      <a16:colId xmlns:a16="http://schemas.microsoft.com/office/drawing/2014/main" val="1812987192"/>
                    </a:ext>
                  </a:extLst>
                </a:gridCol>
                <a:gridCol w="1878296">
                  <a:extLst>
                    <a:ext uri="{9D8B030D-6E8A-4147-A177-3AD203B41FA5}">
                      <a16:colId xmlns:a16="http://schemas.microsoft.com/office/drawing/2014/main" val="2243698650"/>
                    </a:ext>
                  </a:extLst>
                </a:gridCol>
                <a:gridCol w="1578156">
                  <a:extLst>
                    <a:ext uri="{9D8B030D-6E8A-4147-A177-3AD203B41FA5}">
                      <a16:colId xmlns:a16="http://schemas.microsoft.com/office/drawing/2014/main" val="1709946581"/>
                    </a:ext>
                  </a:extLst>
                </a:gridCol>
              </a:tblGrid>
              <a:tr h="434211">
                <a:tc>
                  <a:txBody>
                    <a:bodyPr/>
                    <a:lstStyle/>
                    <a:p>
                      <a:pPr algn="ctr" fontAlgn="ctr"/>
                      <a:r>
                        <a:rPr lang="en-IN" sz="1000" u="none" strike="noStrike" dirty="0">
                          <a:effectLst/>
                        </a:rPr>
                        <a:t>Column Name</a:t>
                      </a:r>
                      <a:endParaRPr lang="en-IN" sz="1000" b="1" i="0" u="none" strike="noStrike" dirty="0">
                        <a:solidFill>
                          <a:srgbClr val="000000"/>
                        </a:solidFill>
                        <a:effectLst/>
                        <a:latin typeface="Calibri" panose="020F0502020204030204" pitchFamily="34" charset="0"/>
                      </a:endParaRPr>
                    </a:p>
                  </a:txBody>
                  <a:tcPr marL="5809" marR="5809" marT="5809" marB="0" anchor="ctr">
                    <a:solidFill>
                      <a:schemeClr val="bg1">
                        <a:lumMod val="85000"/>
                      </a:schemeClr>
                    </a:solidFill>
                  </a:tcPr>
                </a:tc>
                <a:tc>
                  <a:txBody>
                    <a:bodyPr/>
                    <a:lstStyle/>
                    <a:p>
                      <a:pPr algn="ctr" fontAlgn="ctr"/>
                      <a:r>
                        <a:rPr lang="en-IN" sz="1000" u="none" strike="noStrike" dirty="0">
                          <a:effectLst/>
                        </a:rPr>
                        <a:t>Description</a:t>
                      </a:r>
                      <a:endParaRPr lang="en-IN" sz="1000" b="1" i="0" u="none" strike="noStrike" dirty="0">
                        <a:solidFill>
                          <a:srgbClr val="000000"/>
                        </a:solidFill>
                        <a:effectLst/>
                        <a:latin typeface="Calibri" panose="020F0502020204030204" pitchFamily="34" charset="0"/>
                      </a:endParaRPr>
                    </a:p>
                  </a:txBody>
                  <a:tcPr marL="5809" marR="5809" marT="5809" marB="0" anchor="ctr">
                    <a:solidFill>
                      <a:schemeClr val="bg1">
                        <a:lumMod val="85000"/>
                      </a:schemeClr>
                    </a:solidFill>
                  </a:tcPr>
                </a:tc>
                <a:tc>
                  <a:txBody>
                    <a:bodyPr/>
                    <a:lstStyle/>
                    <a:p>
                      <a:pPr algn="ctr" fontAlgn="ctr"/>
                      <a:r>
                        <a:rPr lang="en-IN" sz="1000" u="none" strike="noStrike" dirty="0">
                          <a:effectLst/>
                        </a:rPr>
                        <a:t>Data Type</a:t>
                      </a:r>
                      <a:endParaRPr lang="en-IN" sz="1000" b="1" i="0" u="none" strike="noStrike" dirty="0">
                        <a:solidFill>
                          <a:srgbClr val="000000"/>
                        </a:solidFill>
                        <a:effectLst/>
                        <a:latin typeface="Calibri" panose="020F0502020204030204" pitchFamily="34" charset="0"/>
                      </a:endParaRPr>
                    </a:p>
                  </a:txBody>
                  <a:tcPr marL="5809" marR="5809" marT="5809" marB="0" anchor="ctr">
                    <a:solidFill>
                      <a:schemeClr val="bg1">
                        <a:lumMod val="85000"/>
                      </a:schemeClr>
                    </a:solidFill>
                  </a:tcPr>
                </a:tc>
                <a:extLst>
                  <a:ext uri="{0D108BD9-81ED-4DB2-BD59-A6C34878D82A}">
                    <a16:rowId xmlns:a16="http://schemas.microsoft.com/office/drawing/2014/main" val="2919612633"/>
                  </a:ext>
                </a:extLst>
              </a:tr>
              <a:tr h="356053">
                <a:tc>
                  <a:txBody>
                    <a:bodyPr/>
                    <a:lstStyle/>
                    <a:p>
                      <a:pPr algn="ctr" fontAlgn="ctr"/>
                      <a:r>
                        <a:rPr lang="en-IN" sz="1000" u="none" strike="noStrike">
                          <a:effectLst/>
                        </a:rPr>
                        <a:t>SRNO</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dirty="0">
                          <a:effectLst/>
                        </a:rPr>
                        <a:t>Serial number</a:t>
                      </a:r>
                      <a:endParaRPr lang="en-IN" sz="1000" b="0" i="0" u="none" strike="noStrike" dirty="0">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Nominal</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7936659"/>
                  </a:ext>
                </a:extLst>
              </a:tr>
              <a:tr h="208421">
                <a:tc>
                  <a:txBody>
                    <a:bodyPr/>
                    <a:lstStyle/>
                    <a:p>
                      <a:pPr algn="ctr" fontAlgn="ctr"/>
                      <a:r>
                        <a:rPr lang="en-IN" sz="1000" u="none" strike="noStrike">
                          <a:effectLst/>
                        </a:rPr>
                        <a:t>DATETIME</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US" sz="1000" u="none" strike="noStrike">
                          <a:effectLst/>
                        </a:rPr>
                        <a:t>Date and time of the data recorded</a:t>
                      </a:r>
                      <a:endParaRPr lang="en-US"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Interval</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3082749752"/>
                  </a:ext>
                </a:extLst>
              </a:tr>
              <a:tr h="208421">
                <a:tc>
                  <a:txBody>
                    <a:bodyPr/>
                    <a:lstStyle/>
                    <a:p>
                      <a:pPr algn="ctr" fontAlgn="ctr"/>
                      <a:r>
                        <a:rPr lang="en-IN" sz="1000" u="none" strike="noStrike">
                          <a:effectLst/>
                        </a:rPr>
                        <a:t>HEATNO</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US" sz="1000" u="none" strike="noStrike">
                          <a:effectLst/>
                        </a:rPr>
                        <a:t>Unique identifier for the heat</a:t>
                      </a:r>
                      <a:endParaRPr lang="en-US"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a:effectLst/>
                        </a:rPr>
                        <a:t>Nominal</a:t>
                      </a:r>
                      <a:endParaRPr lang="en-IN" sz="1000" b="0" i="0" u="none" strike="noStrike">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639497172"/>
                  </a:ext>
                </a:extLst>
              </a:tr>
              <a:tr h="208421">
                <a:tc>
                  <a:txBody>
                    <a:bodyPr/>
                    <a:lstStyle/>
                    <a:p>
                      <a:pPr algn="ctr" fontAlgn="ctr"/>
                      <a:r>
                        <a:rPr lang="en-IN" sz="1000" u="none" strike="noStrike">
                          <a:effectLst/>
                        </a:rPr>
                        <a:t>GRADE</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US" sz="1000" u="none" strike="noStrike">
                          <a:effectLst/>
                        </a:rPr>
                        <a:t>Grade of steel being processed</a:t>
                      </a:r>
                      <a:endParaRPr lang="en-US"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a:effectLst/>
                        </a:rPr>
                        <a:t>Nominal</a:t>
                      </a:r>
                      <a:endParaRPr lang="en-IN" sz="1000" b="0" i="0" u="none" strike="noStrike">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119623457"/>
                  </a:ext>
                </a:extLst>
              </a:tr>
              <a:tr h="208421">
                <a:tc>
                  <a:txBody>
                    <a:bodyPr/>
                    <a:lstStyle/>
                    <a:p>
                      <a:pPr algn="ctr" fontAlgn="ctr"/>
                      <a:r>
                        <a:rPr lang="en-IN" sz="1000" u="none" strike="noStrike">
                          <a:effectLst/>
                        </a:rPr>
                        <a:t>SECTION_IC</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Section's intermediate control status</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a:effectLst/>
                        </a:rPr>
                        <a:t>Nominal</a:t>
                      </a:r>
                      <a:endParaRPr lang="en-IN" sz="1000" b="0" i="0" u="none" strike="noStrike">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732728514"/>
                  </a:ext>
                </a:extLst>
              </a:tr>
              <a:tr h="208421">
                <a:tc>
                  <a:txBody>
                    <a:bodyPr/>
                    <a:lstStyle/>
                    <a:p>
                      <a:pPr algn="ctr" fontAlgn="ctr"/>
                      <a:r>
                        <a:rPr lang="en-IN" sz="1000" u="none" strike="noStrike">
                          <a:effectLst/>
                        </a:rPr>
                        <a:t>"SI_EAF</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Shift incharge Name</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Nominal</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061637015"/>
                  </a:ext>
                </a:extLst>
              </a:tr>
              <a:tr h="208421">
                <a:tc>
                  <a:txBody>
                    <a:bodyPr/>
                    <a:lstStyle/>
                    <a:p>
                      <a:pPr algn="ctr" fontAlgn="ctr"/>
                      <a:r>
                        <a:rPr lang="en-IN" sz="1000" u="none" strike="noStrike">
                          <a:effectLst/>
                        </a:rPr>
                        <a:t>COKE_REQ</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Coke required amount</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583565524"/>
                  </a:ext>
                </a:extLst>
              </a:tr>
              <a:tr h="286579">
                <a:tc>
                  <a:txBody>
                    <a:bodyPr/>
                    <a:lstStyle/>
                    <a:p>
                      <a:pPr algn="ctr" fontAlgn="ctr"/>
                      <a:r>
                        <a:rPr lang="en-IN" sz="1000" u="none" strike="noStrike">
                          <a:effectLst/>
                        </a:rPr>
                        <a:t>"INJ1_QTY</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Coke Injection Qty 1</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561599400"/>
                  </a:ext>
                </a:extLst>
              </a:tr>
              <a:tr h="286579">
                <a:tc>
                  <a:txBody>
                    <a:bodyPr/>
                    <a:lstStyle/>
                    <a:p>
                      <a:pPr algn="ctr" fontAlgn="ctr"/>
                      <a:r>
                        <a:rPr lang="en-IN" sz="1000" u="none" strike="noStrike">
                          <a:effectLst/>
                        </a:rPr>
                        <a:t>"INJ2_QTY</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Coke Injection Qty 2</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3247211378"/>
                  </a:ext>
                </a:extLst>
              </a:tr>
              <a:tr h="286579">
                <a:tc>
                  <a:txBody>
                    <a:bodyPr/>
                    <a:lstStyle/>
                    <a:p>
                      <a:pPr algn="ctr" fontAlgn="ctr"/>
                      <a:r>
                        <a:rPr lang="en-IN" sz="1000" u="none" strike="noStrike">
                          <a:effectLst/>
                        </a:rPr>
                        <a:t>BSM</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Blast furnace slag modifier</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2185014736"/>
                  </a:ext>
                </a:extLst>
              </a:tr>
              <a:tr h="286579">
                <a:tc>
                  <a:txBody>
                    <a:bodyPr/>
                    <a:lstStyle/>
                    <a:p>
                      <a:pPr algn="ctr" fontAlgn="ctr"/>
                      <a:r>
                        <a:rPr lang="en-IN" sz="1000" u="none" strike="noStrike">
                          <a:effectLst/>
                        </a:rPr>
                        <a:t>TP</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Total phosphorus content</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2398587399"/>
                  </a:ext>
                </a:extLst>
              </a:tr>
              <a:tr h="286579">
                <a:tc>
                  <a:txBody>
                    <a:bodyPr/>
                    <a:lstStyle/>
                    <a:p>
                      <a:pPr algn="ctr" fontAlgn="ctr"/>
                      <a:r>
                        <a:rPr lang="en-IN" sz="1000" u="none" strike="noStrike">
                          <a:effectLst/>
                        </a:rPr>
                        <a:t>MSTB</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Metal slag through balance</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894415911"/>
                  </a:ext>
                </a:extLst>
              </a:tr>
              <a:tr h="286579">
                <a:tc>
                  <a:txBody>
                    <a:bodyPr/>
                    <a:lstStyle/>
                    <a:p>
                      <a:pPr algn="ctr" fontAlgn="ctr"/>
                      <a:r>
                        <a:rPr lang="en-IN" sz="1000" u="none" strike="noStrike">
                          <a:effectLst/>
                        </a:rPr>
                        <a:t>SKULL</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Skull formation indicator</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84495194"/>
                  </a:ext>
                </a:extLst>
              </a:tr>
              <a:tr h="286579">
                <a:tc>
                  <a:txBody>
                    <a:bodyPr/>
                    <a:lstStyle/>
                    <a:p>
                      <a:pPr algn="ctr" fontAlgn="ctr"/>
                      <a:r>
                        <a:rPr lang="en-IN" sz="1000" u="none" strike="noStrike">
                          <a:effectLst/>
                        </a:rPr>
                        <a:t>SHRAD</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Shredder content</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4216625472"/>
                  </a:ext>
                </a:extLst>
              </a:tr>
              <a:tr h="286579">
                <a:tc>
                  <a:txBody>
                    <a:bodyPr/>
                    <a:lstStyle/>
                    <a:p>
                      <a:pPr algn="ctr" fontAlgn="ctr"/>
                      <a:r>
                        <a:rPr lang="en-IN" sz="1000" u="none" strike="noStrike">
                          <a:effectLst/>
                        </a:rPr>
                        <a:t>REMET</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Remet content</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750085743"/>
                  </a:ext>
                </a:extLst>
              </a:tr>
              <a:tr h="286579">
                <a:tc>
                  <a:txBody>
                    <a:bodyPr/>
                    <a:lstStyle/>
                    <a:p>
                      <a:pPr algn="ctr" fontAlgn="ctr"/>
                      <a:r>
                        <a:rPr lang="en-IN" sz="1000" u="none" strike="noStrike">
                          <a:effectLst/>
                        </a:rPr>
                        <a:t>BP</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Blast furnace power</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1310786210"/>
                  </a:ext>
                </a:extLst>
              </a:tr>
              <a:tr h="286579">
                <a:tc>
                  <a:txBody>
                    <a:bodyPr/>
                    <a:lstStyle/>
                    <a:p>
                      <a:pPr algn="ctr" fontAlgn="ctr"/>
                      <a:r>
                        <a:rPr lang="en-IN" sz="1000" u="none" strike="noStrike">
                          <a:effectLst/>
                        </a:rPr>
                        <a:t>HBI</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Hot briquetted iron</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3168030781"/>
                  </a:ext>
                </a:extLst>
              </a:tr>
              <a:tr h="286579">
                <a:tc>
                  <a:txBody>
                    <a:bodyPr/>
                    <a:lstStyle/>
                    <a:p>
                      <a:pPr algn="ctr" fontAlgn="ctr"/>
                      <a:r>
                        <a:rPr lang="en-IN" sz="1000" u="none" strike="noStrike">
                          <a:effectLst/>
                        </a:rPr>
                        <a:t>OTHERS</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Other materials quantity</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357454893"/>
                  </a:ext>
                </a:extLst>
              </a:tr>
              <a:tr h="286579">
                <a:tc>
                  <a:txBody>
                    <a:bodyPr/>
                    <a:lstStyle/>
                    <a:p>
                      <a:pPr algn="ctr" fontAlgn="ctr"/>
                      <a:r>
                        <a:rPr lang="en-IN" sz="1000" u="none" strike="noStrike">
                          <a:effectLst/>
                        </a:rPr>
                        <a:t>SCRAP_QTY (MT)</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Scrap Steel (%)</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4288510439"/>
                  </a:ext>
                </a:extLst>
              </a:tr>
              <a:tr h="286579">
                <a:tc>
                  <a:txBody>
                    <a:bodyPr/>
                    <a:lstStyle/>
                    <a:p>
                      <a:pPr algn="ctr" fontAlgn="ctr"/>
                      <a:r>
                        <a:rPr lang="en-IN" sz="1000" u="none" strike="noStrike">
                          <a:effectLst/>
                        </a:rPr>
                        <a:t>PIGIRON</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ctr"/>
                      <a:r>
                        <a:rPr lang="en-IN" sz="1000" u="none" strike="noStrike">
                          <a:effectLst/>
                        </a:rPr>
                        <a:t>Pig iron quantity</a:t>
                      </a:r>
                      <a:endParaRPr lang="en-IN" sz="1000" b="0" i="0" u="none" strike="noStrike">
                        <a:solidFill>
                          <a:srgbClr val="000000"/>
                        </a:solidFill>
                        <a:effectLst/>
                        <a:latin typeface="Calibri" panose="020F0502020204030204" pitchFamily="34" charset="0"/>
                      </a:endParaRPr>
                    </a:p>
                  </a:txBody>
                  <a:tcPr marL="5809" marR="5809" marT="5809"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5809" marR="5809" marT="5809" marB="0" anchor="b"/>
                </a:tc>
                <a:extLst>
                  <a:ext uri="{0D108BD9-81ED-4DB2-BD59-A6C34878D82A}">
                    <a16:rowId xmlns:a16="http://schemas.microsoft.com/office/drawing/2014/main" val="4002772070"/>
                  </a:ext>
                </a:extLst>
              </a:tr>
            </a:tbl>
          </a:graphicData>
        </a:graphic>
      </p:graphicFrame>
      <p:pic>
        <p:nvPicPr>
          <p:cNvPr id="7" name="Google Shape;90;p6" descr="360DigiTMG Reviews - 52 Reviews of 360digitmg.com | Sitejabber">
            <a:extLst>
              <a:ext uri="{FF2B5EF4-FFF2-40B4-BE49-F238E27FC236}">
                <a16:creationId xmlns:a16="http://schemas.microsoft.com/office/drawing/2014/main" id="{83154098-521C-8641-8BBA-FAFEF509FDC9}"/>
              </a:ext>
            </a:extLst>
          </p:cNvPr>
          <p:cNvPicPr preferRelativeResize="0"/>
          <p:nvPr/>
        </p:nvPicPr>
        <p:blipFill rotWithShape="1">
          <a:blip r:embed="rId2">
            <a:alphaModFix/>
          </a:blip>
          <a:srcRect/>
          <a:stretch/>
        </p:blipFill>
        <p:spPr>
          <a:xfrm>
            <a:off x="9827755" y="5956827"/>
            <a:ext cx="2277039" cy="808338"/>
          </a:xfrm>
          <a:prstGeom prst="rect">
            <a:avLst/>
          </a:prstGeom>
          <a:noFill/>
          <a:ln>
            <a:noFill/>
          </a:ln>
        </p:spPr>
      </p:pic>
    </p:spTree>
    <p:extLst>
      <p:ext uri="{BB962C8B-B14F-4D97-AF65-F5344CB8AC3E}">
        <p14:creationId xmlns:p14="http://schemas.microsoft.com/office/powerpoint/2010/main" val="3795728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0F62668-F37A-69E3-7A90-E263466317B1}"/>
              </a:ext>
            </a:extLst>
          </p:cNvPr>
          <p:cNvGraphicFramePr>
            <a:graphicFrameLocks noGrp="1"/>
          </p:cNvGraphicFramePr>
          <p:nvPr>
            <p:extLst>
              <p:ext uri="{D42A27DB-BD31-4B8C-83A1-F6EECF244321}">
                <p14:modId xmlns:p14="http://schemas.microsoft.com/office/powerpoint/2010/main" val="4231448885"/>
              </p:ext>
            </p:extLst>
          </p:nvPr>
        </p:nvGraphicFramePr>
        <p:xfrm>
          <a:off x="382555" y="475861"/>
          <a:ext cx="5421086" cy="6176865"/>
        </p:xfrm>
        <a:graphic>
          <a:graphicData uri="http://schemas.openxmlformats.org/drawingml/2006/table">
            <a:tbl>
              <a:tblPr>
                <a:tableStyleId>{616DA210-FB5B-4158-B5E0-FEB733F419BA}</a:tableStyleId>
              </a:tblPr>
              <a:tblGrid>
                <a:gridCol w="1741756">
                  <a:extLst>
                    <a:ext uri="{9D8B030D-6E8A-4147-A177-3AD203B41FA5}">
                      <a16:colId xmlns:a16="http://schemas.microsoft.com/office/drawing/2014/main" val="2679825848"/>
                    </a:ext>
                  </a:extLst>
                </a:gridCol>
                <a:gridCol w="1999412">
                  <a:extLst>
                    <a:ext uri="{9D8B030D-6E8A-4147-A177-3AD203B41FA5}">
                      <a16:colId xmlns:a16="http://schemas.microsoft.com/office/drawing/2014/main" val="3580180949"/>
                    </a:ext>
                  </a:extLst>
                </a:gridCol>
                <a:gridCol w="1679918">
                  <a:extLst>
                    <a:ext uri="{9D8B030D-6E8A-4147-A177-3AD203B41FA5}">
                      <a16:colId xmlns:a16="http://schemas.microsoft.com/office/drawing/2014/main" val="688003257"/>
                    </a:ext>
                  </a:extLst>
                </a:gridCol>
              </a:tblGrid>
              <a:tr h="273254">
                <a:tc>
                  <a:txBody>
                    <a:bodyPr/>
                    <a:lstStyle/>
                    <a:p>
                      <a:pPr algn="ctr" fontAlgn="ctr"/>
                      <a:r>
                        <a:rPr lang="en-IN" sz="1000" u="none" strike="noStrike" dirty="0">
                          <a:effectLst/>
                        </a:rPr>
                        <a:t>DOWN_TIME</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Downtime</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Ordinal</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067886923"/>
                  </a:ext>
                </a:extLst>
              </a:tr>
              <a:tr h="369177">
                <a:tc>
                  <a:txBody>
                    <a:bodyPr/>
                    <a:lstStyle/>
                    <a:p>
                      <a:pPr algn="ctr" fontAlgn="ctr"/>
                      <a:r>
                        <a:rPr lang="pt-BR" sz="1000" u="none" strike="noStrike">
                          <a:effectLst/>
                        </a:rPr>
                        <a:t>E1_CUR (Electrode 1 Current)</a:t>
                      </a:r>
                      <a:endParaRPr lang="pt-BR"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Electrode 1 current</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2069588659"/>
                  </a:ext>
                </a:extLst>
              </a:tr>
              <a:tr h="369177">
                <a:tc>
                  <a:txBody>
                    <a:bodyPr/>
                    <a:lstStyle/>
                    <a:p>
                      <a:pPr algn="ctr" fontAlgn="ctr"/>
                      <a:r>
                        <a:rPr lang="pt-BR" sz="1000" u="none" strike="noStrike">
                          <a:effectLst/>
                        </a:rPr>
                        <a:t>E2_CUR (Electrode 2 Current)</a:t>
                      </a:r>
                      <a:endParaRPr lang="pt-BR"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Electrode 2 current</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2382261040"/>
                  </a:ext>
                </a:extLst>
              </a:tr>
              <a:tr h="369177">
                <a:tc>
                  <a:txBody>
                    <a:bodyPr/>
                    <a:lstStyle/>
                    <a:p>
                      <a:pPr algn="ctr" fontAlgn="ctr"/>
                      <a:r>
                        <a:rPr lang="pt-BR" sz="1000" u="none" strike="noStrike">
                          <a:effectLst/>
                        </a:rPr>
                        <a:t>E3_CUR (Electrode 3 Current)</a:t>
                      </a:r>
                      <a:endParaRPr lang="pt-BR"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Electrode 3 current</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951603908"/>
                  </a:ext>
                </a:extLst>
              </a:tr>
              <a:tr h="424016">
                <a:tc>
                  <a:txBody>
                    <a:bodyPr/>
                    <a:lstStyle/>
                    <a:p>
                      <a:pPr algn="ctr" fontAlgn="ctr"/>
                      <a:r>
                        <a:rPr lang="en-IN" sz="1000" u="none" strike="noStrike">
                          <a:effectLst/>
                        </a:rPr>
                        <a:t>SPOUT (Bottom Refractory Temperature)</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Bottom refractory temperature (spout)</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Interval</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909789289"/>
                  </a:ext>
                </a:extLst>
              </a:tr>
              <a:tr h="273254">
                <a:tc>
                  <a:txBody>
                    <a:bodyPr/>
                    <a:lstStyle/>
                    <a:p>
                      <a:pPr algn="ctr" fontAlgn="ctr"/>
                      <a:r>
                        <a:rPr lang="en-IN" sz="1000" u="none" strike="noStrike">
                          <a:effectLst/>
                        </a:rPr>
                        <a:t>DOLOMIT</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Dolomite temperature</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3202902773"/>
                  </a:ext>
                </a:extLst>
              </a:tr>
              <a:tr h="273254">
                <a:tc>
                  <a:txBody>
                    <a:bodyPr/>
                    <a:lstStyle/>
                    <a:p>
                      <a:pPr algn="ctr" fontAlgn="ctr"/>
                      <a:r>
                        <a:rPr lang="en-IN" sz="1000" u="none" strike="noStrike">
                          <a:effectLst/>
                        </a:rPr>
                        <a:t>CPC</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Calcined petroleum coke</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3067048977"/>
                  </a:ext>
                </a:extLst>
              </a:tr>
              <a:tr h="273254">
                <a:tc>
                  <a:txBody>
                    <a:bodyPr/>
                    <a:lstStyle/>
                    <a:p>
                      <a:pPr algn="ctr" fontAlgn="ctr"/>
                      <a:r>
                        <a:rPr lang="en-IN" sz="1000" u="none" strike="noStrike">
                          <a:effectLst/>
                        </a:rPr>
                        <a:t>TEMPERATURE</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Temperature measurement</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Interval</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3013597071"/>
                  </a:ext>
                </a:extLst>
              </a:tr>
              <a:tr h="273254">
                <a:tc>
                  <a:txBody>
                    <a:bodyPr/>
                    <a:lstStyle/>
                    <a:p>
                      <a:pPr algn="ctr" fontAlgn="ctr"/>
                      <a:r>
                        <a:rPr lang="en-IN" sz="1000" u="none" strike="noStrike">
                          <a:effectLst/>
                        </a:rPr>
                        <a:t>POWER</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Power measurement</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3426238977"/>
                  </a:ext>
                </a:extLst>
              </a:tr>
              <a:tr h="273254">
                <a:tc>
                  <a:txBody>
                    <a:bodyPr/>
                    <a:lstStyle/>
                    <a:p>
                      <a:pPr algn="ctr" fontAlgn="ctr"/>
                      <a:r>
                        <a:rPr lang="en-IN" sz="1000" u="none" strike="noStrike">
                          <a:effectLst/>
                        </a:rPr>
                        <a:t>LAB_REP_TIME</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Laboratory reporting time</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Interval</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245743236"/>
                  </a:ext>
                </a:extLst>
              </a:tr>
              <a:tr h="273254">
                <a:tc>
                  <a:txBody>
                    <a:bodyPr/>
                    <a:lstStyle/>
                    <a:p>
                      <a:pPr algn="ctr" fontAlgn="ctr"/>
                      <a:r>
                        <a:rPr lang="en-IN" sz="1000" u="none" strike="noStrike">
                          <a:effectLst/>
                        </a:rPr>
                        <a:t>C</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Carbon (%)</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a:effectLst/>
                        </a:rPr>
                        <a:t>Ratio</a:t>
                      </a:r>
                      <a:endParaRPr lang="en-IN" sz="1000" b="0" i="0" u="none" strike="noStrike">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975167066"/>
                  </a:ext>
                </a:extLst>
              </a:tr>
              <a:tr h="273254">
                <a:tc>
                  <a:txBody>
                    <a:bodyPr/>
                    <a:lstStyle/>
                    <a:p>
                      <a:pPr algn="ctr" fontAlgn="ctr"/>
                      <a:r>
                        <a:rPr lang="en-IN" sz="1000" u="none" strike="noStrike">
                          <a:effectLst/>
                        </a:rPr>
                        <a:t>SI</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dirty="0">
                          <a:effectLst/>
                        </a:rPr>
                        <a:t>Silicon (%)</a:t>
                      </a:r>
                      <a:endParaRPr lang="en-IN" sz="1000" b="0" i="0" u="none" strike="noStrike" dirty="0">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260483411"/>
                  </a:ext>
                </a:extLst>
              </a:tr>
              <a:tr h="273254">
                <a:tc>
                  <a:txBody>
                    <a:bodyPr/>
                    <a:lstStyle/>
                    <a:p>
                      <a:pPr algn="ctr" fontAlgn="ctr"/>
                      <a:r>
                        <a:rPr lang="en-IN" sz="1000" u="none" strike="noStrike">
                          <a:effectLst/>
                        </a:rPr>
                        <a:t>MN</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Manganese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2289666133"/>
                  </a:ext>
                </a:extLst>
              </a:tr>
              <a:tr h="273254">
                <a:tc>
                  <a:txBody>
                    <a:bodyPr/>
                    <a:lstStyle/>
                    <a:p>
                      <a:pPr algn="ctr" fontAlgn="ctr"/>
                      <a:r>
                        <a:rPr lang="en-IN" sz="1000" u="none" strike="noStrike">
                          <a:effectLst/>
                        </a:rPr>
                        <a:t>P</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Phosphorus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013124942"/>
                  </a:ext>
                </a:extLst>
              </a:tr>
              <a:tr h="273254">
                <a:tc>
                  <a:txBody>
                    <a:bodyPr/>
                    <a:lstStyle/>
                    <a:p>
                      <a:pPr algn="ctr" fontAlgn="ctr"/>
                      <a:r>
                        <a:rPr lang="en-IN" sz="1000" u="none" strike="noStrike">
                          <a:effectLst/>
                        </a:rPr>
                        <a:t>S</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Sulfur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316169286"/>
                  </a:ext>
                </a:extLst>
              </a:tr>
              <a:tr h="273254">
                <a:tc>
                  <a:txBody>
                    <a:bodyPr/>
                    <a:lstStyle/>
                    <a:p>
                      <a:pPr algn="ctr" fontAlgn="ctr"/>
                      <a:r>
                        <a:rPr lang="en-IN" sz="1000" u="none" strike="noStrike">
                          <a:effectLst/>
                        </a:rPr>
                        <a:t>CU</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Copper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4067843434"/>
                  </a:ext>
                </a:extLst>
              </a:tr>
              <a:tr h="273254">
                <a:tc>
                  <a:txBody>
                    <a:bodyPr/>
                    <a:lstStyle/>
                    <a:p>
                      <a:pPr algn="ctr" fontAlgn="ctr"/>
                      <a:r>
                        <a:rPr lang="en-IN" sz="1000" u="none" strike="noStrike">
                          <a:effectLst/>
                        </a:rPr>
                        <a:t>CR</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Chromium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775822313"/>
                  </a:ext>
                </a:extLst>
              </a:tr>
              <a:tr h="273254">
                <a:tc>
                  <a:txBody>
                    <a:bodyPr/>
                    <a:lstStyle/>
                    <a:p>
                      <a:pPr algn="ctr" fontAlgn="ctr"/>
                      <a:r>
                        <a:rPr lang="en-IN" sz="1000" u="none" strike="noStrike">
                          <a:effectLst/>
                        </a:rPr>
                        <a:t>NI</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Nickel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2370132718"/>
                  </a:ext>
                </a:extLst>
              </a:tr>
              <a:tr h="273254">
                <a:tc>
                  <a:txBody>
                    <a:bodyPr/>
                    <a:lstStyle/>
                    <a:p>
                      <a:pPr algn="ctr" fontAlgn="ctr"/>
                      <a:r>
                        <a:rPr lang="en-IN" sz="1000" u="none" strike="noStrike">
                          <a:effectLst/>
                        </a:rPr>
                        <a:t>N</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Nitrogen (%)</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3791769120"/>
                  </a:ext>
                </a:extLst>
              </a:tr>
              <a:tr h="273254">
                <a:tc>
                  <a:txBody>
                    <a:bodyPr/>
                    <a:lstStyle/>
                    <a:p>
                      <a:pPr algn="ctr" fontAlgn="ctr"/>
                      <a:r>
                        <a:rPr lang="en-IN" sz="1000" u="none" strike="noStrike">
                          <a:effectLst/>
                        </a:rPr>
                        <a:t>TIME_UTLN_PRCNT</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Time utilization percentage</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Ordinal</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1099305873"/>
                  </a:ext>
                </a:extLst>
              </a:tr>
              <a:tr h="273254">
                <a:tc>
                  <a:txBody>
                    <a:bodyPr/>
                    <a:lstStyle/>
                    <a:p>
                      <a:pPr algn="ctr" fontAlgn="ctr"/>
                      <a:r>
                        <a:rPr lang="en-IN" sz="1000" u="none" strike="noStrike">
                          <a:effectLst/>
                        </a:rPr>
                        <a:t>TOP_COKE</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ctr"/>
                      <a:r>
                        <a:rPr lang="en-IN" sz="1000" u="none" strike="noStrike">
                          <a:effectLst/>
                        </a:rPr>
                        <a:t>Top coke usage</a:t>
                      </a:r>
                      <a:endParaRPr lang="en-IN" sz="1000" b="0" i="0" u="none" strike="noStrike">
                        <a:solidFill>
                          <a:srgbClr val="000000"/>
                        </a:solidFill>
                        <a:effectLst/>
                        <a:latin typeface="Calibri" panose="020F0502020204030204" pitchFamily="34" charset="0"/>
                      </a:endParaRPr>
                    </a:p>
                  </a:txBody>
                  <a:tcPr marL="6962" marR="6962" marT="6962" marB="0" anchor="ctr"/>
                </a:tc>
                <a:tc>
                  <a:txBody>
                    <a:bodyPr/>
                    <a:lstStyle/>
                    <a:p>
                      <a:pPr algn="ctr" fontAlgn="b"/>
                      <a:r>
                        <a:rPr lang="en-IN" sz="1000" u="none" strike="noStrike" dirty="0">
                          <a:effectLst/>
                        </a:rPr>
                        <a:t>Ratio</a:t>
                      </a:r>
                      <a:endParaRPr lang="en-IN" sz="1000" b="0" i="0" u="none" strike="noStrike" dirty="0">
                        <a:solidFill>
                          <a:srgbClr val="000000"/>
                        </a:solidFill>
                        <a:effectLst/>
                        <a:latin typeface="Calibri" panose="020F0502020204030204" pitchFamily="34" charset="0"/>
                      </a:endParaRPr>
                    </a:p>
                  </a:txBody>
                  <a:tcPr marL="6962" marR="6962" marT="6962" marB="0" anchor="b"/>
                </a:tc>
                <a:extLst>
                  <a:ext uri="{0D108BD9-81ED-4DB2-BD59-A6C34878D82A}">
                    <a16:rowId xmlns:a16="http://schemas.microsoft.com/office/drawing/2014/main" val="529845529"/>
                  </a:ext>
                </a:extLst>
              </a:tr>
            </a:tbl>
          </a:graphicData>
        </a:graphic>
      </p:graphicFrame>
      <p:graphicFrame>
        <p:nvGraphicFramePr>
          <p:cNvPr id="3" name="Table 2">
            <a:extLst>
              <a:ext uri="{FF2B5EF4-FFF2-40B4-BE49-F238E27FC236}">
                <a16:creationId xmlns:a16="http://schemas.microsoft.com/office/drawing/2014/main" id="{701DF030-F376-5303-527A-0691C91A866F}"/>
              </a:ext>
            </a:extLst>
          </p:cNvPr>
          <p:cNvGraphicFramePr>
            <a:graphicFrameLocks noGrp="1"/>
          </p:cNvGraphicFramePr>
          <p:nvPr>
            <p:extLst>
              <p:ext uri="{D42A27DB-BD31-4B8C-83A1-F6EECF244321}">
                <p14:modId xmlns:p14="http://schemas.microsoft.com/office/powerpoint/2010/main" val="3230192579"/>
              </p:ext>
            </p:extLst>
          </p:nvPr>
        </p:nvGraphicFramePr>
        <p:xfrm>
          <a:off x="6095999" y="475861"/>
          <a:ext cx="5007429" cy="6206245"/>
        </p:xfrm>
        <a:graphic>
          <a:graphicData uri="http://schemas.openxmlformats.org/drawingml/2006/table">
            <a:tbl>
              <a:tblPr>
                <a:tableStyleId>{616DA210-FB5B-4158-B5E0-FEB733F419BA}</a:tableStyleId>
              </a:tblPr>
              <a:tblGrid>
                <a:gridCol w="1608851">
                  <a:extLst>
                    <a:ext uri="{9D8B030D-6E8A-4147-A177-3AD203B41FA5}">
                      <a16:colId xmlns:a16="http://schemas.microsoft.com/office/drawing/2014/main" val="748851116"/>
                    </a:ext>
                  </a:extLst>
                </a:gridCol>
                <a:gridCol w="1846846">
                  <a:extLst>
                    <a:ext uri="{9D8B030D-6E8A-4147-A177-3AD203B41FA5}">
                      <a16:colId xmlns:a16="http://schemas.microsoft.com/office/drawing/2014/main" val="1161491782"/>
                    </a:ext>
                  </a:extLst>
                </a:gridCol>
                <a:gridCol w="1551732">
                  <a:extLst>
                    <a:ext uri="{9D8B030D-6E8A-4147-A177-3AD203B41FA5}">
                      <a16:colId xmlns:a16="http://schemas.microsoft.com/office/drawing/2014/main" val="2526058933"/>
                    </a:ext>
                  </a:extLst>
                </a:gridCol>
              </a:tblGrid>
              <a:tr h="171772">
                <a:tc>
                  <a:txBody>
                    <a:bodyPr/>
                    <a:lstStyle/>
                    <a:p>
                      <a:pPr algn="ctr" fontAlgn="ctr"/>
                      <a:r>
                        <a:rPr lang="en-IN" sz="1050" u="none" strike="noStrike" dirty="0">
                          <a:effectLst/>
                        </a:rPr>
                        <a:t>OPEN_C</a:t>
                      </a:r>
                      <a:endParaRPr lang="en-IN" sz="105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Open coke usage</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a:effectLst/>
                        </a:rPr>
                        <a:t>Nominal</a:t>
                      </a:r>
                      <a:endParaRPr lang="en-IN" sz="105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81548164"/>
                  </a:ext>
                </a:extLst>
              </a:tr>
              <a:tr h="367896">
                <a:tc>
                  <a:txBody>
                    <a:bodyPr/>
                    <a:lstStyle/>
                    <a:p>
                      <a:pPr algn="ctr" fontAlgn="ctr"/>
                      <a:r>
                        <a:rPr lang="en-IN" sz="1050" u="none" strike="noStrike" dirty="0">
                          <a:effectLst/>
                        </a:rPr>
                        <a:t>TAP_C</a:t>
                      </a:r>
                      <a:endParaRPr lang="en-IN" sz="105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dirty="0">
                          <a:effectLst/>
                        </a:rPr>
                        <a:t>Tapping coke usage</a:t>
                      </a:r>
                      <a:endParaRPr lang="en-IN" sz="105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a:effectLst/>
                        </a:rPr>
                        <a:t>Nominal</a:t>
                      </a:r>
                      <a:endParaRPr lang="en-IN" sz="105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202692"/>
                  </a:ext>
                </a:extLst>
              </a:tr>
              <a:tr h="367896">
                <a:tc>
                  <a:txBody>
                    <a:bodyPr/>
                    <a:lstStyle/>
                    <a:p>
                      <a:pPr algn="ctr" fontAlgn="ctr"/>
                      <a:r>
                        <a:rPr lang="en-IN" sz="1050" u="none" strike="noStrike">
                          <a:effectLst/>
                        </a:rPr>
                        <a:t>IT_KG</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Iron tapping weight</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Ratio</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65133356"/>
                  </a:ext>
                </a:extLst>
              </a:tr>
              <a:tr h="367896">
                <a:tc>
                  <a:txBody>
                    <a:bodyPr/>
                    <a:lstStyle/>
                    <a:p>
                      <a:pPr algn="ctr" fontAlgn="ctr"/>
                      <a:r>
                        <a:rPr lang="en-IN" sz="1050" u="none" strike="noStrike" dirty="0">
                          <a:effectLst/>
                        </a:rPr>
                        <a:t>BUCKET_NO</a:t>
                      </a:r>
                      <a:endParaRPr lang="en-IN" sz="105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Bucket number identifier</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40226765"/>
                  </a:ext>
                </a:extLst>
              </a:tr>
              <a:tr h="367896">
                <a:tc>
                  <a:txBody>
                    <a:bodyPr/>
                    <a:lstStyle/>
                    <a:p>
                      <a:pPr algn="ctr" fontAlgn="ctr"/>
                      <a:r>
                        <a:rPr lang="en-IN" sz="1050" u="none" strike="noStrike">
                          <a:effectLst/>
                        </a:rPr>
                        <a:t>STATIC_WT</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Static weight measurement</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Ordinal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62214492"/>
                  </a:ext>
                </a:extLst>
              </a:tr>
              <a:tr h="294643">
                <a:tc>
                  <a:txBody>
                    <a:bodyPr/>
                    <a:lstStyle/>
                    <a:p>
                      <a:pPr algn="ctr" fontAlgn="ctr"/>
                      <a:r>
                        <a:rPr lang="en-IN" sz="1050" u="none" strike="noStrike">
                          <a:effectLst/>
                        </a:rPr>
                        <a:t>LIME</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Lime quantity</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a:effectLst/>
                        </a:rPr>
                        <a:t>Ratio</a:t>
                      </a:r>
                      <a:endParaRPr lang="en-IN" sz="105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89508188"/>
                  </a:ext>
                </a:extLst>
              </a:tr>
              <a:tr h="294643">
                <a:tc>
                  <a:txBody>
                    <a:bodyPr/>
                    <a:lstStyle/>
                    <a:p>
                      <a:pPr algn="ctr" fontAlgn="ctr"/>
                      <a:r>
                        <a:rPr lang="en-IN" sz="1050" u="none" strike="noStrike">
                          <a:effectLst/>
                        </a:rPr>
                        <a:t>LIME2</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Lime 2 quantity</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Ratio</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61969269"/>
                  </a:ext>
                </a:extLst>
              </a:tr>
              <a:tr h="367896">
                <a:tc>
                  <a:txBody>
                    <a:bodyPr/>
                    <a:lstStyle/>
                    <a:p>
                      <a:pPr algn="ctr" fontAlgn="ctr"/>
                      <a:r>
                        <a:rPr lang="en-IN" sz="1050" u="none" strike="noStrike">
                          <a:effectLst/>
                        </a:rPr>
                        <a:t>O2SIDE1</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Oxygen side measurement 1</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84249515"/>
                  </a:ext>
                </a:extLst>
              </a:tr>
              <a:tr h="367896">
                <a:tc>
                  <a:txBody>
                    <a:bodyPr/>
                    <a:lstStyle/>
                    <a:p>
                      <a:pPr algn="ctr" fontAlgn="ctr"/>
                      <a:r>
                        <a:rPr lang="en-IN" sz="1050" u="none" strike="noStrike">
                          <a:effectLst/>
                        </a:rPr>
                        <a:t>O2SIDE2</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Oxygen side measurement 2</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3195088"/>
                  </a:ext>
                </a:extLst>
              </a:tr>
              <a:tr h="367896">
                <a:tc>
                  <a:txBody>
                    <a:bodyPr/>
                    <a:lstStyle/>
                    <a:p>
                      <a:pPr algn="ctr" fontAlgn="ctr"/>
                      <a:r>
                        <a:rPr lang="en-IN" sz="1050" u="none" strike="noStrike">
                          <a:effectLst/>
                        </a:rPr>
                        <a:t>O2SIDE3</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Oxygen side measurement 3</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09267391"/>
                  </a:ext>
                </a:extLst>
              </a:tr>
              <a:tr h="294643">
                <a:tc>
                  <a:txBody>
                    <a:bodyPr/>
                    <a:lstStyle/>
                    <a:p>
                      <a:pPr algn="ctr" fontAlgn="ctr"/>
                      <a:r>
                        <a:rPr lang="en-IN" sz="1050" u="none" strike="noStrike">
                          <a:effectLst/>
                        </a:rPr>
                        <a:t>SPINNING</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Spinning indicator</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42153705"/>
                  </a:ext>
                </a:extLst>
              </a:tr>
              <a:tr h="367896">
                <a:tc>
                  <a:txBody>
                    <a:bodyPr/>
                    <a:lstStyle/>
                    <a:p>
                      <a:pPr algn="ctr" fontAlgn="ctr"/>
                      <a:r>
                        <a:rPr lang="en-IN" sz="1050" u="none" strike="noStrike">
                          <a:effectLst/>
                        </a:rPr>
                        <a:t>RAMMING1</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Ramming 1 indicator</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32372245"/>
                  </a:ext>
                </a:extLst>
              </a:tr>
              <a:tr h="367896">
                <a:tc>
                  <a:txBody>
                    <a:bodyPr/>
                    <a:lstStyle/>
                    <a:p>
                      <a:pPr algn="ctr" fontAlgn="ctr"/>
                      <a:r>
                        <a:rPr lang="en-IN" sz="1050" u="none" strike="noStrike">
                          <a:effectLst/>
                        </a:rPr>
                        <a:t>RAMMING2</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Ramming 2 indicator</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37644510"/>
                  </a:ext>
                </a:extLst>
              </a:tr>
              <a:tr h="367896">
                <a:tc>
                  <a:txBody>
                    <a:bodyPr/>
                    <a:lstStyle/>
                    <a:p>
                      <a:pPr algn="ctr" fontAlgn="ctr"/>
                      <a:r>
                        <a:rPr lang="en-IN" sz="1050" u="none" strike="noStrike">
                          <a:effectLst/>
                        </a:rPr>
                        <a:t>PREV_TAP_TIME</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Previous tapping time</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Interval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48680910"/>
                  </a:ext>
                </a:extLst>
              </a:tr>
              <a:tr h="367896">
                <a:tc>
                  <a:txBody>
                    <a:bodyPr/>
                    <a:lstStyle/>
                    <a:p>
                      <a:pPr algn="ctr" fontAlgn="ctr"/>
                      <a:r>
                        <a:rPr lang="en-IN" sz="1050" u="none" strike="noStrike">
                          <a:effectLst/>
                        </a:rPr>
                        <a:t>TAP_DURATION</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Tapping duration</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Ordinal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51216922"/>
                  </a:ext>
                </a:extLst>
              </a:tr>
              <a:tr h="367896">
                <a:tc>
                  <a:txBody>
                    <a:bodyPr/>
                    <a:lstStyle/>
                    <a:p>
                      <a:pPr algn="ctr" fontAlgn="ctr"/>
                      <a:r>
                        <a:rPr lang="en-IN" sz="1050" u="none" strike="noStrike">
                          <a:effectLst/>
                        </a:rPr>
                        <a:t>Pour_Back_Metal</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Pour back metal quantity</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Nominal</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51977231"/>
                  </a:ext>
                </a:extLst>
              </a:tr>
              <a:tr h="367896">
                <a:tc>
                  <a:txBody>
                    <a:bodyPr/>
                    <a:lstStyle/>
                    <a:p>
                      <a:pPr algn="ctr" fontAlgn="ctr"/>
                      <a:r>
                        <a:rPr lang="en-IN" sz="1050" u="none" strike="noStrike">
                          <a:effectLst/>
                        </a:rPr>
                        <a:t>LM_WT</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Liquid metal weight</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Ratio</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0933313"/>
                  </a:ext>
                </a:extLst>
              </a:tr>
              <a:tr h="367896">
                <a:tc>
                  <a:txBody>
                    <a:bodyPr/>
                    <a:lstStyle/>
                    <a:p>
                      <a:pPr algn="ctr" fontAlgn="ctr"/>
                      <a:r>
                        <a:rPr lang="en-IN" sz="1050" u="none" strike="noStrike">
                          <a:effectLst/>
                        </a:rPr>
                        <a:t>Production (MT)</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050" u="none" strike="noStrike">
                          <a:effectLst/>
                        </a:rPr>
                        <a:t>Production volume in metric tons</a:t>
                      </a:r>
                      <a:endParaRPr lang="en-IN" sz="105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050" u="none" strike="noStrike" dirty="0">
                          <a:effectLst/>
                        </a:rPr>
                        <a:t>Ratio</a:t>
                      </a:r>
                      <a:endParaRPr lang="en-IN" sz="105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17384851"/>
                  </a:ext>
                </a:extLst>
              </a:tr>
            </a:tbl>
          </a:graphicData>
        </a:graphic>
      </p:graphicFrame>
    </p:spTree>
    <p:extLst>
      <p:ext uri="{BB962C8B-B14F-4D97-AF65-F5344CB8AC3E}">
        <p14:creationId xmlns:p14="http://schemas.microsoft.com/office/powerpoint/2010/main" val="140971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559838" y="365760"/>
            <a:ext cx="10394674" cy="539309"/>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u="sng" dirty="0">
                <a:latin typeface="Times New Roman"/>
                <a:ea typeface="Times New Roman"/>
                <a:cs typeface="Times New Roman"/>
                <a:sym typeface="Times New Roman"/>
              </a:rPr>
              <a:t>Exploratory Data Analysis [EDA]</a:t>
            </a:r>
            <a:endParaRPr sz="3200" u="sng" dirty="0">
              <a:latin typeface="Times New Roman"/>
              <a:ea typeface="Times New Roman"/>
              <a:cs typeface="Times New Roman"/>
              <a:sym typeface="Times New Roman"/>
            </a:endParaRPr>
          </a:p>
        </p:txBody>
      </p:sp>
      <p:sp>
        <p:nvSpPr>
          <p:cNvPr id="113" name="Google Shape;113;p25"/>
          <p:cNvSpPr txBox="1">
            <a:spLocks noGrp="1"/>
          </p:cNvSpPr>
          <p:nvPr>
            <p:ph type="sldNum" sz="quarter"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14" name="Google Shape;114;p25"/>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5" name="Google Shape;115;p25"/>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 name="Google Shape;116;p25"/>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7" name="Google Shape;117;p25"/>
          <p:cNvSpPr txBox="1"/>
          <p:nvPr/>
        </p:nvSpPr>
        <p:spPr>
          <a:xfrm>
            <a:off x="910032" y="4811444"/>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p:cNvSpPr/>
          <p:nvPr/>
        </p:nvSpPr>
        <p:spPr>
          <a:xfrm>
            <a:off x="559837" y="1175021"/>
            <a:ext cx="5372115" cy="480299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Business Insights</a:t>
            </a:r>
            <a:endParaRPr sz="1400" b="1" i="0" u="sng" strike="noStrike" cap="none">
              <a:solidFill>
                <a:srgbClr val="000000"/>
              </a:solidFill>
              <a:latin typeface="Arial"/>
              <a:ea typeface="Arial"/>
              <a:cs typeface="Arial"/>
              <a:sym typeface="Arial"/>
            </a:endParaRPr>
          </a:p>
        </p:txBody>
      </p:sp>
      <p:sp>
        <p:nvSpPr>
          <p:cNvPr id="2" name="Google Shape;100;gf3a8d4be09_2_92">
            <a:extLst>
              <a:ext uri="{FF2B5EF4-FFF2-40B4-BE49-F238E27FC236}">
                <a16:creationId xmlns:a16="http://schemas.microsoft.com/office/drawing/2014/main" id="{25D6DD39-555A-AE09-5431-D13CF557CFB1}"/>
              </a:ext>
            </a:extLst>
          </p:cNvPr>
          <p:cNvSpPr txBox="1"/>
          <p:nvPr/>
        </p:nvSpPr>
        <p:spPr>
          <a:xfrm>
            <a:off x="5869102" y="1485168"/>
            <a:ext cx="3007003" cy="20312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sz="3000" b="1" i="0" u="none" strike="noStrike" cap="none" dirty="0">
              <a:solidFill>
                <a:srgbClr val="000000"/>
              </a:solidFill>
              <a:latin typeface="Calibri"/>
              <a:ea typeface="Calibri"/>
              <a:cs typeface="Calibri"/>
              <a:sym typeface="Calibri"/>
            </a:endParaRPr>
          </a:p>
        </p:txBody>
      </p:sp>
      <p:sp>
        <p:nvSpPr>
          <p:cNvPr id="3" name="Google Shape;100;gf3a8d4be09_2_92">
            <a:extLst>
              <a:ext uri="{FF2B5EF4-FFF2-40B4-BE49-F238E27FC236}">
                <a16:creationId xmlns:a16="http://schemas.microsoft.com/office/drawing/2014/main" id="{62A5AEBF-2264-B3D5-E8B6-FFC43098AF23}"/>
              </a:ext>
            </a:extLst>
          </p:cNvPr>
          <p:cNvSpPr txBox="1"/>
          <p:nvPr/>
        </p:nvSpPr>
        <p:spPr>
          <a:xfrm>
            <a:off x="7431042" y="1959281"/>
            <a:ext cx="3611167" cy="20312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sz="3000" b="1" i="0" u="none" strike="noStrike" cap="none" dirty="0">
              <a:solidFill>
                <a:srgbClr val="000000"/>
              </a:solidFill>
              <a:latin typeface="Calibri"/>
              <a:ea typeface="Calibri"/>
              <a:cs typeface="Calibri"/>
              <a:sym typeface="Calibri"/>
            </a:endParaRPr>
          </a:p>
        </p:txBody>
      </p:sp>
      <p:sp>
        <p:nvSpPr>
          <p:cNvPr id="4" name="Google Shape;100;gf3a8d4be09_2_92">
            <a:extLst>
              <a:ext uri="{FF2B5EF4-FFF2-40B4-BE49-F238E27FC236}">
                <a16:creationId xmlns:a16="http://schemas.microsoft.com/office/drawing/2014/main" id="{C19D1711-8928-7F01-0245-4E60C25529FD}"/>
              </a:ext>
            </a:extLst>
          </p:cNvPr>
          <p:cNvSpPr txBox="1"/>
          <p:nvPr/>
        </p:nvSpPr>
        <p:spPr>
          <a:xfrm>
            <a:off x="336247" y="630335"/>
            <a:ext cx="11002069" cy="20312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endParaRPr lang="en-IN" sz="3000" b="1"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r>
              <a:rPr lang="en-IN" sz="3000" b="1" i="0" u="none" strike="noStrike" cap="none" dirty="0">
                <a:solidFill>
                  <a:srgbClr val="000000"/>
                </a:solidFill>
                <a:latin typeface="Calibri"/>
                <a:ea typeface="Calibri"/>
                <a:cs typeface="Calibri"/>
                <a:sym typeface="Calibri"/>
              </a:rPr>
              <a:t>                                                          </a:t>
            </a:r>
            <a:endParaRPr sz="3000" b="1" i="0" u="none" strike="noStrike" cap="none" dirty="0">
              <a:solidFill>
                <a:srgbClr val="000000"/>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AD3A982E-D523-13B1-EB07-38BA4E3E5413}"/>
              </a:ext>
            </a:extLst>
          </p:cNvPr>
          <p:cNvPicPr>
            <a:picLocks noChangeAspect="1"/>
          </p:cNvPicPr>
          <p:nvPr/>
        </p:nvPicPr>
        <p:blipFill>
          <a:blip r:embed="rId4"/>
          <a:stretch>
            <a:fillRect/>
          </a:stretch>
        </p:blipFill>
        <p:spPr>
          <a:xfrm>
            <a:off x="5869103" y="1987873"/>
            <a:ext cx="3005588" cy="2036240"/>
          </a:xfrm>
          <a:prstGeom prst="rect">
            <a:avLst/>
          </a:prstGeom>
        </p:spPr>
      </p:pic>
      <p:sp>
        <p:nvSpPr>
          <p:cNvPr id="7" name="Rectangle 1">
            <a:extLst>
              <a:ext uri="{FF2B5EF4-FFF2-40B4-BE49-F238E27FC236}">
                <a16:creationId xmlns:a16="http://schemas.microsoft.com/office/drawing/2014/main" id="{D78274E8-62A3-D9E9-C4C4-A840FAD75653}"/>
              </a:ext>
            </a:extLst>
          </p:cNvPr>
          <p:cNvSpPr>
            <a:spLocks noChangeArrowheads="1"/>
          </p:cNvSpPr>
          <p:nvPr/>
        </p:nvSpPr>
        <p:spPr bwMode="auto">
          <a:xfrm>
            <a:off x="6515137" y="1630202"/>
            <a:ext cx="39373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Energy Efficiency</a:t>
            </a:r>
            <a:r>
              <a:rPr kumimoji="0" lang="en-US" altLang="en-US" sz="1200" b="0" i="0" u="none" strike="noStrike" cap="none" normalizeH="0" baseline="0" dirty="0">
                <a:ln>
                  <a:noFill/>
                </a:ln>
                <a:solidFill>
                  <a:schemeClr val="tx1"/>
                </a:solidFill>
                <a:effectLst/>
                <a:latin typeface="Arial" panose="020B0604020202020204" pitchFamily="34" charset="0"/>
              </a:rPr>
              <a:t>: Implement energy-saving technologies and monitor energy consumption per ton of steel to reduce costs and environmental impact.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Material Utilization</a:t>
            </a:r>
            <a:r>
              <a:rPr kumimoji="0" lang="en-US" altLang="en-US" sz="1200" b="0" i="0" u="none" strike="noStrike" cap="none" normalizeH="0" baseline="0" dirty="0">
                <a:ln>
                  <a:noFill/>
                </a:ln>
                <a:solidFill>
                  <a:schemeClr val="tx1"/>
                </a:solidFill>
                <a:effectLst/>
                <a:latin typeface="Arial" panose="020B0604020202020204" pitchFamily="34" charset="0"/>
              </a:rPr>
              <a:t>: Optimize the use of raw materials like scrap, pig iron, and direct reduced iron (DRI) to minimize waste and lower material costs.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Process Optimization</a:t>
            </a:r>
            <a:r>
              <a:rPr kumimoji="0" lang="en-US" altLang="en-US" sz="1200" b="0" i="0" u="none" strike="noStrike" cap="none" normalizeH="0" baseline="0" dirty="0">
                <a:ln>
                  <a:noFill/>
                </a:ln>
                <a:solidFill>
                  <a:schemeClr val="tx1"/>
                </a:solidFill>
                <a:effectLst/>
                <a:latin typeface="Arial" panose="020B0604020202020204" pitchFamily="34" charset="0"/>
              </a:rPr>
              <a:t>: Reduce downtime and cycle times by improving furnace operations, such as controlling melt time, tapping time, and turnaround time.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Quality Assurance</a:t>
            </a:r>
            <a:r>
              <a:rPr kumimoji="0" lang="en-US" altLang="en-US" sz="1200" b="0" i="0" u="none" strike="noStrike" cap="none" normalizeH="0" baseline="0" dirty="0">
                <a:ln>
                  <a:noFill/>
                </a:ln>
                <a:solidFill>
                  <a:schemeClr val="tx1"/>
                </a:solidFill>
                <a:effectLst/>
                <a:latin typeface="Arial" panose="020B0604020202020204" pitchFamily="34" charset="0"/>
              </a:rPr>
              <a:t>: Maintain consistent product quality by precisely controlling the chemical composition of the steel and adjusting process parameters as needed.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Automation and Data Analytics</a:t>
            </a:r>
            <a:r>
              <a:rPr kumimoji="0" lang="en-US" altLang="en-US" sz="1200" b="0" i="0" u="none" strike="noStrike" cap="none" normalizeH="0" baseline="0" dirty="0">
                <a:ln>
                  <a:noFill/>
                </a:ln>
                <a:solidFill>
                  <a:schemeClr val="tx1"/>
                </a:solidFill>
                <a:effectLst/>
                <a:latin typeface="Arial" panose="020B0604020202020204" pitchFamily="34" charset="0"/>
              </a:rPr>
              <a:t>: Leverage automation and advanced data analytics to predict maintenance needs, optimize production schedules, and enhance overall operational efficiency.</a:t>
            </a:r>
          </a:p>
        </p:txBody>
      </p:sp>
      <p:sp>
        <p:nvSpPr>
          <p:cNvPr id="8" name="Rectangle 2">
            <a:extLst>
              <a:ext uri="{FF2B5EF4-FFF2-40B4-BE49-F238E27FC236}">
                <a16:creationId xmlns:a16="http://schemas.microsoft.com/office/drawing/2014/main" id="{B54DF5BB-855E-7B1E-91F1-38898AB9D6C5}"/>
              </a:ext>
            </a:extLst>
          </p:cNvPr>
          <p:cNvSpPr>
            <a:spLocks noChangeArrowheads="1"/>
          </p:cNvSpPr>
          <p:nvPr/>
        </p:nvSpPr>
        <p:spPr bwMode="auto">
          <a:xfrm>
            <a:off x="794605" y="1537869"/>
            <a:ext cx="481897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Mean, Median, Mode:</a:t>
            </a:r>
            <a:r>
              <a:rPr kumimoji="0" lang="en-US" altLang="en-US" sz="1200" b="0" i="0" u="none" strike="noStrike" cap="none" normalizeH="0" baseline="0" dirty="0">
                <a:ln>
                  <a:noFill/>
                </a:ln>
                <a:solidFill>
                  <a:schemeClr val="tx1"/>
                </a:solidFill>
                <a:effectLst/>
                <a:latin typeface="Arial" panose="020B0604020202020204" pitchFamily="34" charset="0"/>
              </a:rPr>
              <a:t> Calculate these for quantitative columns like 'COKE_REQ', 'INJ1_QTY', 'TAP_TEMP',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Standard Deviation and Variance:</a:t>
            </a:r>
            <a:r>
              <a:rPr kumimoji="0" lang="en-US" altLang="en-US" sz="1200" b="0" i="0" u="none" strike="noStrike" cap="none" normalizeH="0" baseline="0" dirty="0">
                <a:ln>
                  <a:noFill/>
                </a:ln>
                <a:solidFill>
                  <a:schemeClr val="tx1"/>
                </a:solidFill>
                <a:effectLst/>
                <a:latin typeface="Arial" panose="020B0604020202020204" pitchFamily="34" charset="0"/>
              </a:rPr>
              <a:t> For understanding dispersion.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Min, Max, Range:</a:t>
            </a:r>
            <a:r>
              <a:rPr kumimoji="0" lang="en-US" altLang="en-US" sz="1200" b="0" i="0" u="none" strike="noStrike" cap="none" normalizeH="0" baseline="0" dirty="0">
                <a:ln>
                  <a:noFill/>
                </a:ln>
                <a:solidFill>
                  <a:schemeClr val="tx1"/>
                </a:solidFill>
                <a:effectLst/>
                <a:latin typeface="Arial" panose="020B0604020202020204" pitchFamily="34" charset="0"/>
              </a:rPr>
              <a:t> To assess the spread of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Distribution Analysis: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Histograms:</a:t>
            </a:r>
            <a:r>
              <a:rPr kumimoji="0" lang="en-US" altLang="en-US" sz="1200" b="0" i="0" u="none" strike="noStrike" cap="none" normalizeH="0" baseline="0" dirty="0">
                <a:ln>
                  <a:noFill/>
                </a:ln>
                <a:solidFill>
                  <a:schemeClr val="tx1"/>
                </a:solidFill>
                <a:effectLst/>
                <a:latin typeface="Arial" panose="020B0604020202020204" pitchFamily="34" charset="0"/>
              </a:rPr>
              <a:t> To visualize the distribution of continuous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Box Plots:</a:t>
            </a:r>
            <a:r>
              <a:rPr kumimoji="0" lang="en-US" altLang="en-US" sz="1200" b="0" i="0" u="none" strike="noStrike" cap="none" normalizeH="0" baseline="0" dirty="0">
                <a:ln>
                  <a:noFill/>
                </a:ln>
                <a:solidFill>
                  <a:schemeClr val="tx1"/>
                </a:solidFill>
                <a:effectLst/>
                <a:latin typeface="Arial" panose="020B0604020202020204" pitchFamily="34" charset="0"/>
              </a:rPr>
              <a:t> To identify outliers and understand data spread.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Correlation Analysis: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Correlation Matrix:</a:t>
            </a:r>
            <a:r>
              <a:rPr kumimoji="0" lang="en-US" altLang="en-US" sz="1200" b="0" i="0" u="none" strike="noStrike" cap="none" normalizeH="0" baseline="0" dirty="0">
                <a:ln>
                  <a:noFill/>
                </a:ln>
                <a:solidFill>
                  <a:schemeClr val="tx1"/>
                </a:solidFill>
                <a:effectLst/>
                <a:latin typeface="Arial" panose="020B0604020202020204" pitchFamily="34" charset="0"/>
              </a:rPr>
              <a:t> To find relationships between variables, such as between 'ENERGY' and 'KWH_PER_TON'.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Trend Analysis: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Time Series Analysis:</a:t>
            </a:r>
            <a:r>
              <a:rPr kumimoji="0" lang="en-US" altLang="en-US" sz="1200" b="0" i="0" u="none" strike="noStrike" cap="none" normalizeH="0" baseline="0" dirty="0">
                <a:ln>
                  <a:noFill/>
                </a:ln>
                <a:solidFill>
                  <a:schemeClr val="tx1"/>
                </a:solidFill>
                <a:effectLst/>
                <a:latin typeface="Arial" panose="020B0604020202020204" pitchFamily="34" charset="0"/>
              </a:rPr>
              <a:t> For columns like 'DATETIME' to see trends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Seasonal Effects:</a:t>
            </a:r>
            <a:r>
              <a:rPr kumimoji="0" lang="en-US" altLang="en-US" sz="1200" b="0" i="0" u="none" strike="noStrike" cap="none" normalizeH="0" baseline="0" dirty="0">
                <a:ln>
                  <a:noFill/>
                </a:ln>
                <a:solidFill>
                  <a:schemeClr val="tx1"/>
                </a:solidFill>
                <a:effectLst/>
                <a:latin typeface="Arial" panose="020B0604020202020204" pitchFamily="34" charset="0"/>
              </a:rPr>
              <a:t> If applicable, identify any seasonal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Comparative Analysis: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Comparisons Between Groups:</a:t>
            </a:r>
            <a:r>
              <a:rPr kumimoji="0" lang="en-US" altLang="en-US" sz="1200" b="0" i="0" u="none" strike="noStrike" cap="none" normalizeH="0" baseline="0" dirty="0">
                <a:ln>
                  <a:noFill/>
                </a:ln>
                <a:solidFill>
                  <a:schemeClr val="tx1"/>
                </a:solidFill>
                <a:effectLst/>
                <a:latin typeface="Arial" panose="020B0604020202020204" pitchFamily="34" charset="0"/>
              </a:rPr>
              <a:t> For categorical data, compare different sections or heat numbers.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Anomalies Detection: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Outlier Detection:</a:t>
            </a:r>
            <a:r>
              <a:rPr kumimoji="0" lang="en-US" altLang="en-US" sz="1200" b="0" i="0" u="none" strike="noStrike" cap="none" normalizeH="0" baseline="0" dirty="0">
                <a:ln>
                  <a:noFill/>
                </a:ln>
                <a:solidFill>
                  <a:schemeClr val="tx1"/>
                </a:solidFill>
                <a:effectLst/>
                <a:latin typeface="Arial" panose="020B0604020202020204" pitchFamily="34" charset="0"/>
              </a:rPr>
              <a:t> Identify any unusual values or patterns that deviate significantly from the norm.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163416" y="-17712"/>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u="sng" dirty="0">
                <a:latin typeface="Times New Roman"/>
                <a:ea typeface="Times New Roman"/>
                <a:cs typeface="Times New Roman"/>
                <a:sym typeface="Times New Roman"/>
              </a:rPr>
              <a:t>Data Preprocessing</a:t>
            </a:r>
            <a:endParaRPr u="sng" dirty="0"/>
          </a:p>
        </p:txBody>
      </p:sp>
      <p:sp>
        <p:nvSpPr>
          <p:cNvPr id="129" name="Google Shape;129;p30"/>
          <p:cNvSpPr txBox="1"/>
          <p:nvPr/>
        </p:nvSpPr>
        <p:spPr>
          <a:xfrm>
            <a:off x="163416" y="425500"/>
            <a:ext cx="10972800" cy="64325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1. Data Loading and Initial Inspection: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Read the Data: The dataset is loaded from an Excel file into a Pandas </a:t>
            </a:r>
            <a:r>
              <a:rPr lang="en-US" sz="1400" b="0" i="0" u="none" strike="noStrike" cap="none" dirty="0" err="1">
                <a:solidFill>
                  <a:srgbClr val="000000"/>
                </a:solidFill>
                <a:latin typeface="Calibri"/>
                <a:ea typeface="Calibri"/>
                <a:cs typeface="Calibri"/>
                <a:sym typeface="Calibri"/>
              </a:rPr>
              <a:t>DataFrame</a:t>
            </a:r>
            <a:r>
              <a:rPr lang="en-US" sz="1400" b="0" i="0" u="none" strike="noStrike" cap="none" dirty="0">
                <a:solidFill>
                  <a:srgbClr val="000000"/>
                </a:solidFill>
                <a:latin typeface="Calibri"/>
                <a:ea typeface="Calibri"/>
                <a:cs typeface="Calibri"/>
                <a:sym typeface="Calibri"/>
              </a:rPr>
              <a:t> using </a:t>
            </a:r>
            <a:r>
              <a:rPr lang="en-US" sz="1400" b="0" i="0" u="none" strike="noStrike" cap="none" dirty="0" err="1">
                <a:solidFill>
                  <a:srgbClr val="000000"/>
                </a:solidFill>
                <a:latin typeface="Calibri"/>
                <a:ea typeface="Calibri"/>
                <a:cs typeface="Calibri"/>
                <a:sym typeface="Calibri"/>
              </a:rPr>
              <a:t>pd.read_excel</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Shape of Data: The shape of the dataset (number of rows and columns) is displayed using </a:t>
            </a:r>
            <a:r>
              <a:rPr lang="en-US" sz="1400" b="0" i="0" u="none" strike="noStrike" cap="none" dirty="0" err="1">
                <a:solidFill>
                  <a:srgbClr val="000000"/>
                </a:solidFill>
                <a:latin typeface="Calibri"/>
                <a:ea typeface="Calibri"/>
                <a:cs typeface="Calibri"/>
                <a:sym typeface="Calibri"/>
              </a:rPr>
              <a:t>da.shape</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Data Information: The da.info() function provides an overview of the dataset, including data types and non-null counts for each column.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Column Names: The column names of the dataset are printed using </a:t>
            </a:r>
            <a:r>
              <a:rPr lang="en-US" sz="1400" b="0" i="0" u="none" strike="noStrike" cap="none" dirty="0" err="1">
                <a:solidFill>
                  <a:srgbClr val="000000"/>
                </a:solidFill>
                <a:latin typeface="Calibri"/>
                <a:ea typeface="Calibri"/>
                <a:cs typeface="Calibri"/>
                <a:sym typeface="Calibri"/>
              </a:rPr>
              <a:t>da.columns</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2. Descriptive Statistics on columns:</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Central Tendency &amp; Dispersion: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Mean, Median, Mode: The mean, median, and mode are calculated to understand the central tendency.</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Standard Deviation &amp; Variance: The standard deviation (std) and variance (var) are calculated to understand the spread of the data.</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Range: The range (difference between max and min values) is computed.</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Skewness &amp; Kurtosis: These are calculated to understand the shape of the distribution. Skewness measures asymmetry, while kurtosis measures the </a:t>
            </a:r>
            <a:r>
              <a:rPr lang="en-US" sz="1400" b="0" i="0" u="none" strike="noStrike" cap="none" dirty="0" err="1">
                <a:solidFill>
                  <a:srgbClr val="000000"/>
                </a:solidFill>
                <a:latin typeface="Calibri"/>
                <a:ea typeface="Calibri"/>
                <a:cs typeface="Calibri"/>
                <a:sym typeface="Calibri"/>
              </a:rPr>
              <a:t>P</a:t>
            </a:r>
            <a:r>
              <a:rPr lang="en-US" sz="1400" dirty="0" err="1">
                <a:solidFill>
                  <a:srgbClr val="000000"/>
                </a:solidFill>
                <a:latin typeface="Calibri"/>
                <a:ea typeface="Calibri"/>
                <a:cs typeface="Calibri"/>
                <a:sym typeface="Calibri"/>
              </a:rPr>
              <a:t>eaked</a:t>
            </a:r>
            <a:r>
              <a:rPr lang="en-US" sz="1400" b="0" i="0" u="none" strike="noStrike" cap="none" dirty="0" err="1">
                <a:solidFill>
                  <a:srgbClr val="000000"/>
                </a:solidFill>
                <a:latin typeface="Calibri"/>
                <a:ea typeface="Calibri"/>
                <a:cs typeface="Calibri"/>
                <a:sym typeface="Calibri"/>
              </a:rPr>
              <a:t>ness</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3. Graphical Representation: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Histogram: A histogram plotted to visualize its distribution.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Boxplot: A boxplot is created to visualize the presence of outliers.</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4. Handling Duplicates:</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Duplicate Check: The code checks for duplicate rows using </a:t>
            </a:r>
            <a:r>
              <a:rPr lang="en-US" sz="1400" b="0" i="0" u="none" strike="noStrike" cap="none" dirty="0" err="1">
                <a:solidFill>
                  <a:srgbClr val="000000"/>
                </a:solidFill>
                <a:latin typeface="Calibri"/>
                <a:ea typeface="Calibri"/>
                <a:cs typeface="Calibri"/>
                <a:sym typeface="Calibri"/>
              </a:rPr>
              <a:t>da.duplicated</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Duplicate Count: The number of duplicates is counted with sum(dup).</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5. Outlier Detection and Handling:</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IQR Calculation: The Interquartile Range (IQR) is calculated to identify outliers.</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Lower &amp; Upper Limits: The lower and upper bounds for outliers are determined using 1.5 * IQR rule.</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Outlier Replacement: Outliers are replaced with the respective lower or upper limit values using </a:t>
            </a:r>
            <a:r>
              <a:rPr lang="en-US" sz="1400" b="0" i="0" u="none" strike="noStrike" cap="none" dirty="0" err="1">
                <a:solidFill>
                  <a:srgbClr val="000000"/>
                </a:solidFill>
                <a:latin typeface="Calibri"/>
                <a:ea typeface="Calibri"/>
                <a:cs typeface="Calibri"/>
                <a:sym typeface="Calibri"/>
              </a:rPr>
              <a:t>np.where</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6. Zero and Near-Zero Variance Detection: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Variance Calculation: The variance of each column is calculated.</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Near-Zero Variance Features: Columns with variance less than 0.01 are identified, as these may not contribute meaningfully to analysis or modeling.</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7. Normalization: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Min-Max Scaling: The column is normalized to a range of [0, 1] using Min-Max Scaling via </a:t>
            </a:r>
            <a:r>
              <a:rPr lang="en-US" sz="1400" b="0" i="0" u="none" strike="noStrike" cap="none" dirty="0" err="1">
                <a:solidFill>
                  <a:srgbClr val="000000"/>
                </a:solidFill>
                <a:latin typeface="Calibri"/>
                <a:ea typeface="Calibri"/>
                <a:cs typeface="Calibri"/>
                <a:sym typeface="Calibri"/>
              </a:rPr>
              <a:t>MinMaxScaler</a:t>
            </a:r>
            <a:r>
              <a:rPr lang="en-US" sz="1400" b="0" i="0" u="none" strike="noStrike" cap="none" dirty="0">
                <a:solidFill>
                  <a:srgbClr val="000000"/>
                </a:solidFill>
                <a:latin typeface="Calibri"/>
                <a:ea typeface="Calibri"/>
                <a:cs typeface="Calibri"/>
                <a:sym typeface="Calibri"/>
              </a:rPr>
              <a:t> from </a:t>
            </a:r>
            <a:r>
              <a:rPr lang="en-US" sz="1400" b="0" i="0" u="none" strike="noStrike" cap="none" dirty="0" err="1">
                <a:solidFill>
                  <a:srgbClr val="000000"/>
                </a:solidFill>
                <a:latin typeface="Calibri"/>
                <a:ea typeface="Calibri"/>
                <a:cs typeface="Calibri"/>
                <a:sym typeface="Calibri"/>
              </a:rPr>
              <a:t>sklearn</a:t>
            </a:r>
            <a:r>
              <a:rPr lang="en-US" sz="1400" b="0" i="0" u="none" strike="noStrike" cap="none" dirty="0">
                <a:solidFill>
                  <a:srgbClr val="000000"/>
                </a:solidFill>
                <a:latin typeface="Calibri"/>
                <a:ea typeface="Calibri"/>
                <a:cs typeface="Calibri"/>
                <a:sym typeface="Calibri"/>
              </a:rPr>
              <a:t>.</a:t>
            </a:r>
          </a:p>
          <a:p>
            <a:pPr marL="0" marR="0" lvl="0" indent="0" algn="l" rtl="0">
              <a:spcBef>
                <a:spcPts val="0"/>
              </a:spcBef>
              <a:spcAft>
                <a:spcPts val="0"/>
              </a:spcAft>
              <a:buClr>
                <a:srgbClr val="000000"/>
              </a:buClr>
              <a:buSzPts val="1400"/>
              <a:buFont typeface="Arial"/>
              <a:buNone/>
            </a:pPr>
            <a:r>
              <a:rPr lang="en-US" sz="1400" b="1" i="0" u="none" strike="noStrike" cap="none" dirty="0">
                <a:solidFill>
                  <a:srgbClr val="000000"/>
                </a:solidFill>
                <a:latin typeface="Calibri"/>
                <a:ea typeface="Calibri"/>
                <a:cs typeface="Calibri"/>
                <a:sym typeface="Calibri"/>
              </a:rPr>
              <a:t>8. Transformation:</a:t>
            </a:r>
          </a:p>
          <a:p>
            <a:pPr marL="0" marR="0" lvl="0" indent="0" algn="l" rtl="0">
              <a:spcBef>
                <a:spcPts val="0"/>
              </a:spcBef>
              <a:spcAft>
                <a:spcPts val="0"/>
              </a:spcAft>
              <a:buClr>
                <a:srgbClr val="000000"/>
              </a:buClr>
              <a:buSzPts val="1400"/>
              <a:buFont typeface="Arial"/>
              <a:buNone/>
            </a:pPr>
            <a:r>
              <a:rPr lang="en-US" sz="1400" b="0" i="0" u="none" strike="noStrike" cap="none" dirty="0">
                <a:solidFill>
                  <a:srgbClr val="000000"/>
                </a:solidFill>
                <a:latin typeface="Calibri"/>
                <a:ea typeface="Calibri"/>
                <a:cs typeface="Calibri"/>
                <a:sym typeface="Calibri"/>
              </a:rPr>
              <a:t>Log Transformation: A logarithmic transformation is applied to normalize its distribution and reduce skewness.</a:t>
            </a:r>
            <a:endParaRPr sz="1400" b="0" i="0" u="none" strike="noStrike" cap="none" dirty="0">
              <a:solidFill>
                <a:srgbClr val="000000"/>
              </a:solidFill>
              <a:latin typeface="Calibri"/>
              <a:ea typeface="Calibri"/>
              <a:cs typeface="Calibri"/>
              <a:sym typeface="Calibri"/>
            </a:endParaRPr>
          </a:p>
        </p:txBody>
      </p:sp>
      <p:pic>
        <p:nvPicPr>
          <p:cNvPr id="130" name="Google Shape;130;p30"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391885" y="262292"/>
            <a:ext cx="9692640" cy="53544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ea typeface="Times New Roman"/>
                <a:cs typeface="Times New Roman"/>
                <a:sym typeface="Times New Roman"/>
              </a:rPr>
              <a:t>Data Visualization </a:t>
            </a:r>
            <a:endParaRPr lang="en-US" dirty="0"/>
          </a:p>
        </p:txBody>
      </p:sp>
      <p:sp>
        <p:nvSpPr>
          <p:cNvPr id="137" name="Google Shape;137;p32"/>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p:cNvSpPr txBox="1"/>
          <p:nvPr/>
        </p:nvSpPr>
        <p:spPr>
          <a:xfrm>
            <a:off x="268689" y="1004846"/>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5" name="Picture 4" descr="A screenshot of a computer screen&#10;&#10;Description automatically generated">
            <a:extLst>
              <a:ext uri="{FF2B5EF4-FFF2-40B4-BE49-F238E27FC236}">
                <a16:creationId xmlns:a16="http://schemas.microsoft.com/office/drawing/2014/main" id="{F37CAA38-1D88-326C-2C78-90D9CA8226BB}"/>
              </a:ext>
            </a:extLst>
          </p:cNvPr>
          <p:cNvPicPr>
            <a:picLocks noChangeAspect="1"/>
          </p:cNvPicPr>
          <p:nvPr/>
        </p:nvPicPr>
        <p:blipFill>
          <a:blip r:embed="rId4"/>
          <a:stretch>
            <a:fillRect/>
          </a:stretch>
        </p:blipFill>
        <p:spPr>
          <a:xfrm>
            <a:off x="71437" y="0"/>
            <a:ext cx="12049126" cy="6858000"/>
          </a:xfrm>
          <a:prstGeom prst="rect">
            <a:avLst/>
          </a:prstGeom>
        </p:spPr>
      </p:pic>
      <p:sp>
        <p:nvSpPr>
          <p:cNvPr id="6" name="Rectangle 5">
            <a:extLst>
              <a:ext uri="{FF2B5EF4-FFF2-40B4-BE49-F238E27FC236}">
                <a16:creationId xmlns:a16="http://schemas.microsoft.com/office/drawing/2014/main" id="{26BE37FE-72E5-0B95-2D78-BACCE51F8264}"/>
              </a:ext>
            </a:extLst>
          </p:cNvPr>
          <p:cNvSpPr/>
          <p:nvPr/>
        </p:nvSpPr>
        <p:spPr>
          <a:xfrm>
            <a:off x="9517224" y="113082"/>
            <a:ext cx="2553846" cy="701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w="22225">
                  <a:solidFill>
                    <a:schemeClr val="accent2"/>
                  </a:solidFill>
                  <a:prstDash val="solid"/>
                </a:ln>
                <a:solidFill>
                  <a:schemeClr val="accent2">
                    <a:lumMod val="40000"/>
                    <a:lumOff val="60000"/>
                  </a:schemeClr>
                </a:solidFill>
              </a:rPr>
              <a:t>DATA VISUALIZATION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177B5F9E-2CEB-84C1-2AFA-7CE13B27C664}"/>
              </a:ext>
            </a:extLst>
          </p:cNvPr>
          <p:cNvSpPr>
            <a:spLocks noChangeArrowheads="1"/>
          </p:cNvSpPr>
          <p:nvPr/>
        </p:nvSpPr>
        <p:spPr bwMode="auto">
          <a:xfrm>
            <a:off x="-1" y="563706"/>
            <a:ext cx="11280711"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Summary Cards (Top Row):</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Distinct Grade:</a:t>
            </a:r>
            <a:r>
              <a:rPr kumimoji="0" lang="en-US" altLang="en-US" sz="1600" b="0" i="0" u="none" strike="noStrike" cap="none" normalizeH="0" baseline="0" dirty="0">
                <a:ln>
                  <a:noFill/>
                </a:ln>
                <a:solidFill>
                  <a:schemeClr val="tx1"/>
                </a:solidFill>
                <a:effectLst/>
                <a:latin typeface="Arial" panose="020B0604020202020204" pitchFamily="34" charset="0"/>
              </a:rPr>
              <a:t> Displays the count of unique grades (305).</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HOT_METAL:</a:t>
            </a:r>
            <a:r>
              <a:rPr kumimoji="0" lang="en-US" altLang="en-US" sz="1600" b="0" i="0" u="none" strike="noStrike" cap="none" normalizeH="0" baseline="0" dirty="0">
                <a:ln>
                  <a:noFill/>
                </a:ln>
                <a:solidFill>
                  <a:schemeClr val="tx1"/>
                </a:solidFill>
                <a:effectLst/>
                <a:latin typeface="Arial" panose="020B0604020202020204" pitchFamily="34" charset="0"/>
              </a:rPr>
              <a:t> Total amount of hot metal (113K).</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SCRAP_QTY:</a:t>
            </a:r>
            <a:r>
              <a:rPr kumimoji="0" lang="en-US" altLang="en-US" sz="1600" b="0" i="0" u="none" strike="noStrike" cap="none" normalizeH="0" baseline="0" dirty="0">
                <a:ln>
                  <a:noFill/>
                </a:ln>
                <a:solidFill>
                  <a:schemeClr val="tx1"/>
                </a:solidFill>
                <a:effectLst/>
                <a:latin typeface="Arial" panose="020B0604020202020204" pitchFamily="34" charset="0"/>
              </a:rPr>
              <a:t> Total quantity of scrap (22K).</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AVG_TAP_TEMP:</a:t>
            </a:r>
            <a:r>
              <a:rPr kumimoji="0" lang="en-US" altLang="en-US" sz="1600" b="0" i="0" u="none" strike="noStrike" cap="none" normalizeH="0" baseline="0" dirty="0">
                <a:ln>
                  <a:noFill/>
                </a:ln>
                <a:solidFill>
                  <a:schemeClr val="tx1"/>
                </a:solidFill>
                <a:effectLst/>
                <a:latin typeface="Arial" panose="020B0604020202020204" pitchFamily="34" charset="0"/>
              </a:rPr>
              <a:t> Average tap temperature (5.52K).</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SCRAP_QTY vs. Production:</a:t>
            </a:r>
            <a:r>
              <a:rPr kumimoji="0" lang="en-US" altLang="en-US" sz="1600" b="0" i="0" u="none" strike="noStrike" cap="none" normalizeH="0" baseline="0" dirty="0">
                <a:ln>
                  <a:noFill/>
                </a:ln>
                <a:solidFill>
                  <a:schemeClr val="tx1"/>
                </a:solidFill>
                <a:effectLst/>
                <a:latin typeface="Arial" panose="020B0604020202020204" pitchFamily="34" charset="0"/>
              </a:rPr>
              <a:t> A goal-oriented line chart showing scrap quantity compared to production.</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Line Chart (Bottom Left, Top Left):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Production and MELT_TIME:</a:t>
            </a:r>
            <a:r>
              <a:rPr kumimoji="0" lang="en-US" altLang="en-US" sz="1600" b="0" i="0" u="none" strike="noStrike" cap="none" normalizeH="0" baseline="0" dirty="0">
                <a:ln>
                  <a:noFill/>
                </a:ln>
                <a:solidFill>
                  <a:schemeClr val="tx1"/>
                </a:solidFill>
                <a:effectLst/>
                <a:latin typeface="Arial" panose="020B0604020202020204" pitchFamily="34" charset="0"/>
              </a:rPr>
              <a:t> Displays the sum of production (MT) and melting time by year, quarter, and month. It tracks changes over time, with each point representing a month (Aug 2023 to Oct 2023).</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MELT_TIME by Month:</a:t>
            </a:r>
            <a:r>
              <a:rPr kumimoji="0" lang="en-US" altLang="en-US" sz="1600" b="0" i="0" u="none" strike="noStrike" cap="none" normalizeH="0" baseline="0" dirty="0">
                <a:ln>
                  <a:noFill/>
                </a:ln>
                <a:solidFill>
                  <a:schemeClr val="tx1"/>
                </a:solidFill>
                <a:effectLst/>
                <a:latin typeface="Arial" panose="020B0604020202020204" pitchFamily="34" charset="0"/>
              </a:rPr>
              <a:t> Tracks melting time specifically, highlighting changes between August, September, and October.</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Scatter Plot (Top Center):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Production vs. ENERGY by GRADE:</a:t>
            </a:r>
            <a:r>
              <a:rPr kumimoji="0" lang="en-US" altLang="en-US" sz="1600" b="0" i="0" u="none" strike="noStrike" cap="none" normalizeH="0" baseline="0" dirty="0">
                <a:ln>
                  <a:noFill/>
                </a:ln>
                <a:solidFill>
                  <a:schemeClr val="tx1"/>
                </a:solidFill>
                <a:effectLst/>
                <a:latin typeface="Arial" panose="020B0604020202020204" pitchFamily="34" charset="0"/>
              </a:rPr>
              <a:t> A scatter plot visualizing the relationship between production volume and energy consumption across different grades.</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Bar Chart (Top Right):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ENERGY by GRADE:</a:t>
            </a:r>
            <a:r>
              <a:rPr kumimoji="0" lang="en-US" altLang="en-US" sz="1600" b="0" i="0" u="none" strike="noStrike" cap="none" normalizeH="0" baseline="0" dirty="0">
                <a:ln>
                  <a:noFill/>
                </a:ln>
                <a:solidFill>
                  <a:schemeClr val="tx1"/>
                </a:solidFill>
                <a:effectLst/>
                <a:latin typeface="Arial" panose="020B0604020202020204" pitchFamily="34" charset="0"/>
              </a:rPr>
              <a:t> Bar chart showing energy consumption by different grades, with a clear emphasis on the highest consumers.</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Pie Chart (Bottom Center):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Count of GRADE by SECTION_IC:</a:t>
            </a:r>
            <a:r>
              <a:rPr kumimoji="0" lang="en-US" altLang="en-US" sz="1600" b="0" i="0" u="none" strike="noStrike" cap="none" normalizeH="0" baseline="0" dirty="0">
                <a:ln>
                  <a:noFill/>
                </a:ln>
                <a:solidFill>
                  <a:schemeClr val="tx1"/>
                </a:solidFill>
                <a:effectLst/>
                <a:latin typeface="Arial" panose="020B0604020202020204" pitchFamily="34" charset="0"/>
              </a:rPr>
              <a:t> A pie chart representing the distribution of different grades across sections (A, B, C), with percentage labels.</a:t>
            </a: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Bar Chart (Bottom Right):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Sum of TOT_DRI_QTY by GRADE:</a:t>
            </a:r>
            <a:r>
              <a:rPr kumimoji="0" lang="en-US" altLang="en-US" sz="1600" b="0" i="0" u="none" strike="noStrike" cap="none" normalizeH="0" baseline="0" dirty="0">
                <a:ln>
                  <a:noFill/>
                </a:ln>
                <a:solidFill>
                  <a:schemeClr val="tx1"/>
                </a:solidFill>
                <a:effectLst/>
                <a:latin typeface="Arial" panose="020B0604020202020204" pitchFamily="34" charset="0"/>
              </a:rPr>
              <a:t> Shows the total direct reduced iron quantity by grade, with a focus on the grades with the highest totals.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4" name="Google Shape;139;p32" descr="360DigiTMG Reviews - 52 Reviews of 360digitmg.com | Sitejabber">
            <a:extLst>
              <a:ext uri="{FF2B5EF4-FFF2-40B4-BE49-F238E27FC236}">
                <a16:creationId xmlns:a16="http://schemas.microsoft.com/office/drawing/2014/main" id="{B6DF582C-C161-E3CF-EA13-77FFD2107D53}"/>
              </a:ext>
            </a:extLst>
          </p:cNvPr>
          <p:cNvPicPr preferRelativeResize="0"/>
          <p:nvPr/>
        </p:nvPicPr>
        <p:blipFill rotWithShape="1">
          <a:blip r:embed="rId2">
            <a:alphaModFix/>
          </a:blip>
          <a:srcRect/>
          <a:stretch/>
        </p:blipFill>
        <p:spPr>
          <a:xfrm>
            <a:off x="9826190" y="6049662"/>
            <a:ext cx="2277039" cy="808338"/>
          </a:xfrm>
          <a:prstGeom prst="rect">
            <a:avLst/>
          </a:prstGeom>
          <a:noFill/>
          <a:ln>
            <a:noFill/>
          </a:ln>
        </p:spPr>
      </p:pic>
    </p:spTree>
    <p:extLst>
      <p:ext uri="{BB962C8B-B14F-4D97-AF65-F5344CB8AC3E}">
        <p14:creationId xmlns:p14="http://schemas.microsoft.com/office/powerpoint/2010/main" val="267056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cxnSp>
        <p:nvCxnSpPr>
          <p:cNvPr id="144" name="Google Shape;144;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145" name="Google Shape;145;p60" descr="Attitudes 2 Animal Cognition Survey – The Anthrozoologist"/>
          <p:cNvPicPr preferRelativeResize="0"/>
          <p:nvPr/>
        </p:nvPicPr>
        <p:blipFill rotWithShape="1">
          <a:blip r:embed="rId3">
            <a:alphaModFix/>
          </a:blip>
          <a:srcRect/>
          <a:stretch/>
        </p:blipFill>
        <p:spPr>
          <a:xfrm rot="21324736">
            <a:off x="2820342" y="422983"/>
            <a:ext cx="5985694" cy="5890736"/>
          </a:xfrm>
          <a:prstGeom prst="rect">
            <a:avLst/>
          </a:prstGeom>
          <a:noFill/>
          <a:ln>
            <a:noFill/>
          </a:ln>
        </p:spPr>
      </p:pic>
      <p:pic>
        <p:nvPicPr>
          <p:cNvPr id="146" name="Google Shape;146;p60" descr="360DigiTMG Reviews - 52 Reviews of 360digitmg.com | Sitejabber"/>
          <p:cNvPicPr preferRelativeResize="0"/>
          <p:nvPr/>
        </p:nvPicPr>
        <p:blipFill rotWithShape="1">
          <a:blip r:embed="rId4">
            <a:alphaModFix/>
          </a:blip>
          <a:srcRect/>
          <a:stretch/>
        </p:blipFill>
        <p:spPr>
          <a:xfrm>
            <a:off x="9723552" y="5952931"/>
            <a:ext cx="2277039" cy="80833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280</TotalTime>
  <Words>1862</Words>
  <Application>Microsoft Office PowerPoint</Application>
  <PresentationFormat>Widescreen</PresentationFormat>
  <Paragraphs>363</Paragraphs>
  <Slides>11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Calibri</vt:lpstr>
      <vt:lpstr>Georgia</vt:lpstr>
      <vt:lpstr>Times New Roman</vt:lpstr>
      <vt:lpstr>Office Theme</vt:lpstr>
      <vt:lpstr>OPTIMIZATION OF STEEL MANUFACTURING</vt:lpstr>
      <vt:lpstr>Contents</vt:lpstr>
      <vt:lpstr>Business Problems</vt:lpstr>
      <vt:lpstr>Project Overview and Scope</vt:lpstr>
      <vt:lpstr>Data Dictionary</vt:lpstr>
      <vt:lpstr>PowerPoint Presentation</vt:lpstr>
      <vt:lpstr>Exploratory Data Analysis [EDA]</vt:lpstr>
      <vt:lpstr>Data Preprocessing</vt:lpstr>
      <vt:lpstr>Data Visualization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VIKAS BARTHWAL</dc:creator>
  <cp:lastModifiedBy>devadi057@gmail.com</cp:lastModifiedBy>
  <cp:revision>7</cp:revision>
  <dcterms:created xsi:type="dcterms:W3CDTF">2022-02-16T01:47:29Z</dcterms:created>
  <dcterms:modified xsi:type="dcterms:W3CDTF">2024-09-08T14:44:34Z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